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4"/>
  </p:notesMasterIdLst>
  <p:sldIdLst>
    <p:sldId id="256" r:id="rId3"/>
    <p:sldId id="260" r:id="rId4"/>
    <p:sldId id="305" r:id="rId5"/>
    <p:sldId id="306" r:id="rId6"/>
    <p:sldId id="275" r:id="rId7"/>
    <p:sldId id="264" r:id="rId8"/>
    <p:sldId id="291" r:id="rId9"/>
    <p:sldId id="288" r:id="rId10"/>
    <p:sldId id="303" r:id="rId11"/>
    <p:sldId id="307" r:id="rId12"/>
    <p:sldId id="271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Lato Black" panose="020F0502020204030203" pitchFamily="34" charset="0"/>
      <p:bold r:id="rId19"/>
      <p:boldItalic r:id="rId20"/>
    </p:embeddedFont>
    <p:embeddedFont>
      <p:font typeface="Nunito" pitchFamily="2" charset="0"/>
      <p:regular r:id="rId21"/>
      <p:bold r:id="rId22"/>
      <p:italic r:id="rId23"/>
      <p:boldItalic r:id="rId24"/>
    </p:embeddedFont>
    <p:embeddedFont>
      <p:font typeface="Satisfy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67590-CF98-9D03-E0F1-F7229691B7FB}" v="178" dt="2026-07-17T18:46:50.852"/>
    <p1510:client id="{C31F2E6E-073A-F080-137A-1D963DF5E760}" v="304" dt="2026-07-17T12:39:06.430"/>
    <p1510:client id="{E270D94C-04FC-40DF-3F68-09DCB324FE6C}" v="1323" dt="2026-07-17T13:51:47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7344088D-0429-1E46-7107-5618AFDE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1A8B499E-86B5-391F-B423-B554F31B5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83F13CA7-207E-3824-2C27-4AE8F1024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0254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4737F300-8FA9-CB6C-CEDB-B9FD97A3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EBBE95FF-2616-5B6C-C5E4-9622B447A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6ADDD379-9908-16D3-D724-2D03E2889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9991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D535D53-E47A-D84E-DDFD-76F7D8BF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B6313465-7627-FB93-C048-9A4472BC8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1793C3E6-A70F-ED9C-AC7F-B42B56C46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4900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D2190CE-8D25-5DF0-889D-20504D97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034FBE3D-D240-76AD-4455-5F0CA5B0A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DCF26A7A-9ED1-C774-93F6-6B805473F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6488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6F48607-1960-7485-A51D-4DA1A44C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79112447-35A6-CD85-C885-F5EA06FFF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40E84458-93B2-387C-A927-2B22CBF18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9006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206A4F9-5A16-B443-D957-EACEE6BA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E7DE25BE-44D8-F53A-AA40-253C48991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53CF70E4-1190-D833-4E79-504A2B701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7981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BF2C0053-3D1D-A372-48EA-49693C39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86FDE51E-9B9E-0AE0-36CE-C4BA46177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453B7039-5AB6-2D12-55A3-472F75F26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2666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55716ace1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55716ace1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rot="2002332">
            <a:off x="5424541" y="4086766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3"/>
                </a:lnTo>
                <a:lnTo>
                  <a:pt x="0" y="1650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73819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5917804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6" name="Google Shape;16;p2"/>
          <p:cNvSpPr/>
          <p:nvPr/>
        </p:nvSpPr>
        <p:spPr>
          <a:xfrm>
            <a:off x="591780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7" name="Google Shape;17;p2"/>
          <p:cNvSpPr/>
          <p:nvPr/>
        </p:nvSpPr>
        <p:spPr>
          <a:xfrm>
            <a:off x="267123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8" name="Google Shape;18;p2"/>
          <p:cNvSpPr/>
          <p:nvPr/>
        </p:nvSpPr>
        <p:spPr>
          <a:xfrm>
            <a:off x="73819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9" name="Google Shape;19;p2"/>
          <p:cNvSpPr/>
          <p:nvPr/>
        </p:nvSpPr>
        <p:spPr>
          <a:xfrm rot="5400000">
            <a:off x="6450462" y="2559289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0" name="Google Shape;20;p2"/>
          <p:cNvSpPr/>
          <p:nvPr/>
        </p:nvSpPr>
        <p:spPr>
          <a:xfrm rot="5400000">
            <a:off x="-1993869" y="2564052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95812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5" name="Google Shape;25;p3"/>
          <p:cNvSpPr/>
          <p:nvPr/>
        </p:nvSpPr>
        <p:spPr>
          <a:xfrm>
            <a:off x="2995812" y="475275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6" name="Google Shape;26;p3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3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516626" y="2625048"/>
            <a:ext cx="2222534" cy="2518452"/>
          </a:xfrm>
          <a:custGeom>
            <a:avLst/>
            <a:gdLst/>
            <a:ahLst/>
            <a:cxnLst/>
            <a:rect l="l" t="t" r="r" b="b"/>
            <a:pathLst>
              <a:path w="4445067" h="5036904" extrusionOk="0">
                <a:moveTo>
                  <a:pt x="0" y="0"/>
                </a:moveTo>
                <a:lnTo>
                  <a:pt x="4445067" y="0"/>
                </a:lnTo>
                <a:lnTo>
                  <a:pt x="4445067" y="5036904"/>
                </a:lnTo>
                <a:lnTo>
                  <a:pt x="0" y="5036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" name="Google Shape;39;p5"/>
          <p:cNvSpPr/>
          <p:nvPr/>
        </p:nvSpPr>
        <p:spPr>
          <a:xfrm>
            <a:off x="564344" y="3086100"/>
            <a:ext cx="1635633" cy="2057400"/>
          </a:xfrm>
          <a:custGeom>
            <a:avLst/>
            <a:gdLst/>
            <a:ahLst/>
            <a:cxnLst/>
            <a:rect l="l" t="t" r="r" b="b"/>
            <a:pathLst>
              <a:path w="3271266" h="4114800" extrusionOk="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" name="Google Shape;44;p6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" name="Google Shape;45;p6"/>
          <p:cNvSpPr/>
          <p:nvPr/>
        </p:nvSpPr>
        <p:spPr>
          <a:xfrm>
            <a:off x="8083819" y="3389255"/>
            <a:ext cx="1350734" cy="1349045"/>
          </a:xfrm>
          <a:custGeom>
            <a:avLst/>
            <a:gdLst/>
            <a:ahLst/>
            <a:cxnLst/>
            <a:rect l="l" t="t" r="r" b="b"/>
            <a:pathLst>
              <a:path w="2701467" h="2698090" extrusionOk="0">
                <a:moveTo>
                  <a:pt x="0" y="0"/>
                </a:moveTo>
                <a:lnTo>
                  <a:pt x="2701467" y="0"/>
                </a:lnTo>
                <a:lnTo>
                  <a:pt x="2701467" y="2698090"/>
                </a:lnTo>
                <a:lnTo>
                  <a:pt x="0" y="269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6"/>
          <p:cNvSpPr/>
          <p:nvPr/>
        </p:nvSpPr>
        <p:spPr>
          <a:xfrm rot="2002332">
            <a:off x="3959050" y="41335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306139" y="23488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7460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 rot="-1739939">
            <a:off x="864005" y="72122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2" name="Google Shape;52;p7"/>
          <p:cNvSpPr/>
          <p:nvPr/>
        </p:nvSpPr>
        <p:spPr>
          <a:xfrm rot="2002332">
            <a:off x="7661750" y="3722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4421614" y="39485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4310698" y="2715473"/>
            <a:ext cx="2372962" cy="2424482"/>
          </a:xfrm>
          <a:custGeom>
            <a:avLst/>
            <a:gdLst/>
            <a:ahLst/>
            <a:cxnLst/>
            <a:rect l="l" t="t" r="r" b="b"/>
            <a:pathLst>
              <a:path w="5616478" h="5738420" extrusionOk="0">
                <a:moveTo>
                  <a:pt x="0" y="0"/>
                </a:moveTo>
                <a:lnTo>
                  <a:pt x="5616478" y="0"/>
                </a:lnTo>
                <a:lnTo>
                  <a:pt x="5616478" y="5738420"/>
                </a:lnTo>
                <a:lnTo>
                  <a:pt x="0" y="5738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8"/>
          <p:cNvSpPr/>
          <p:nvPr/>
        </p:nvSpPr>
        <p:spPr>
          <a:xfrm>
            <a:off x="8127774" y="350879"/>
            <a:ext cx="873766" cy="1013063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76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72497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tisfy"/>
              <a:buNone/>
              <a:defRPr sz="2800">
                <a:solidFill>
                  <a:schemeClr val="dk1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atisfy"/>
              <a:buChar char="●"/>
              <a:defRPr sz="1800">
                <a:solidFill>
                  <a:schemeClr val="dk2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 Black"/>
              <a:buChar char="○"/>
              <a:defRPr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/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/>
          <p:cNvSpPr txBox="1"/>
          <p:nvPr/>
        </p:nvSpPr>
        <p:spPr>
          <a:xfrm>
            <a:off x="437675" y="1722918"/>
            <a:ext cx="826864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>
                <a:solidFill>
                  <a:srgbClr val="F9A629"/>
                </a:solidFill>
                <a:latin typeface="Lato Black"/>
                <a:ea typeface="Lato Black"/>
                <a:cs typeface="Lato Black"/>
              </a:rPr>
              <a:t>APIs</a:t>
            </a:r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8A728-C23D-22E6-556E-A75BB394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/>
        </p:nvSpPr>
        <p:spPr>
          <a:xfrm>
            <a:off x="155115" y="513383"/>
            <a:ext cx="854901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5000">
                <a:solidFill>
                  <a:srgbClr val="F4A545"/>
                </a:solidFill>
                <a:latin typeface="Lato Black"/>
                <a:ea typeface="Lato Black"/>
                <a:cs typeface="Lato Black"/>
                <a:sym typeface="Satisfy"/>
              </a:rPr>
              <a:t>What is an API?</a:t>
            </a:r>
            <a:endParaRPr sz="5000">
              <a:latin typeface="Lato Black"/>
              <a:ea typeface="Lato Black"/>
              <a:cs typeface="Lato Black"/>
            </a:endParaRPr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104E588-414D-9E89-50E7-CFB985C1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16" name="Google Shape;204;p27">
            <a:extLst>
              <a:ext uri="{FF2B5EF4-FFF2-40B4-BE49-F238E27FC236}">
                <a16:creationId xmlns:a16="http://schemas.microsoft.com/office/drawing/2014/main" id="{1A3ABC04-73B4-C4B0-36FD-679680CF1FE6}"/>
              </a:ext>
            </a:extLst>
          </p:cNvPr>
          <p:cNvSpPr txBox="1"/>
          <p:nvPr/>
        </p:nvSpPr>
        <p:spPr>
          <a:xfrm>
            <a:off x="606872" y="2666277"/>
            <a:ext cx="823461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/>
            <a:r>
              <a:rPr lang="en" sz="2500">
                <a:solidFill>
                  <a:srgbClr val="FFFDFC"/>
                </a:solidFill>
                <a:latin typeface="Lato"/>
                <a:ea typeface="Lato"/>
                <a:cs typeface="Lato"/>
              </a:rPr>
              <a:t>A bridge between different software programs, it defines how they can communicate &amp; share data </a:t>
            </a:r>
            <a:endParaRPr lang="en-US" sz="2500"/>
          </a:p>
        </p:txBody>
      </p:sp>
      <p:sp>
        <p:nvSpPr>
          <p:cNvPr id="17" name="Google Shape;205;p27">
            <a:extLst>
              <a:ext uri="{FF2B5EF4-FFF2-40B4-BE49-F238E27FC236}">
                <a16:creationId xmlns:a16="http://schemas.microsoft.com/office/drawing/2014/main" id="{322E2BB0-58DB-2F39-6F18-24FABE3A09C6}"/>
              </a:ext>
            </a:extLst>
          </p:cNvPr>
          <p:cNvSpPr txBox="1"/>
          <p:nvPr/>
        </p:nvSpPr>
        <p:spPr>
          <a:xfrm>
            <a:off x="153832" y="2076745"/>
            <a:ext cx="697989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3000">
                <a:solidFill>
                  <a:srgbClr val="F4A545"/>
                </a:solidFill>
                <a:latin typeface="Lato Black"/>
                <a:ea typeface="Lato Black"/>
                <a:cs typeface="Lato Black"/>
              </a:rPr>
              <a:t>Application Programming Interface</a:t>
            </a:r>
            <a:endParaRPr lang="en" sz="3000">
              <a:solidFill>
                <a:srgbClr val="F4A545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1EFB6BA9-313B-29A1-1842-98D2A556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4FD08DF0-F118-241D-3529-AECFCE4A1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Freeform 5">
            <a:extLst>
              <a:ext uri="{FF2B5EF4-FFF2-40B4-BE49-F238E27FC236}">
                <a16:creationId xmlns:a16="http://schemas.microsoft.com/office/drawing/2014/main" id="{DB8E2E64-023A-D02B-2685-05701BB9F017}"/>
              </a:ext>
            </a:extLst>
          </p:cNvPr>
          <p:cNvSpPr/>
          <p:nvPr/>
        </p:nvSpPr>
        <p:spPr>
          <a:xfrm>
            <a:off x="703944" y="156425"/>
            <a:ext cx="7508452" cy="4829927"/>
          </a:xfrm>
          <a:custGeom>
            <a:avLst/>
            <a:gdLst/>
            <a:ahLst/>
            <a:cxnLst/>
            <a:rect l="l" t="t" r="r" b="b"/>
            <a:pathLst>
              <a:path w="10088367" h="5483069">
                <a:moveTo>
                  <a:pt x="0" y="0"/>
                </a:moveTo>
                <a:lnTo>
                  <a:pt x="10088367" y="0"/>
                </a:lnTo>
                <a:lnTo>
                  <a:pt x="10088367" y="5483069"/>
                </a:lnTo>
                <a:lnTo>
                  <a:pt x="0" y="5483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488" r="-1033" b="-99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416892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B668224A-D0BC-0E51-5084-68850FD9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109026D-C3A5-3EE3-C163-43C432911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F8BFDF-1C38-639B-5BB6-7F0C16A5F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14" y="227611"/>
            <a:ext cx="8055431" cy="438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2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1670148-1832-183E-0DCC-FD8FADDF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0ED0CC13-8E89-4B74-FF62-E755F76E8247}"/>
              </a:ext>
            </a:extLst>
          </p:cNvPr>
          <p:cNvSpPr txBox="1"/>
          <p:nvPr/>
        </p:nvSpPr>
        <p:spPr>
          <a:xfrm>
            <a:off x="-1514" y="270787"/>
            <a:ext cx="449953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sz="3500">
                <a:solidFill>
                  <a:srgbClr val="F4A545"/>
                </a:solidFill>
                <a:latin typeface="Lato Black"/>
                <a:ea typeface="Lato Black"/>
                <a:cs typeface="Lato Black"/>
                <a:sym typeface="Satisfy"/>
              </a:rPr>
              <a:t>https://www.app.com</a:t>
            </a:r>
            <a:endParaRPr sz="350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088E964-8E9C-D1DF-3959-AD3677987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12" name="Google Shape;262;p31">
            <a:extLst>
              <a:ext uri="{FF2B5EF4-FFF2-40B4-BE49-F238E27FC236}">
                <a16:creationId xmlns:a16="http://schemas.microsoft.com/office/drawing/2014/main" id="{657F3DA1-2AF3-7384-51A8-E3F9A74DED45}"/>
              </a:ext>
            </a:extLst>
          </p:cNvPr>
          <p:cNvSpPr txBox="1"/>
          <p:nvPr/>
        </p:nvSpPr>
        <p:spPr>
          <a:xfrm>
            <a:off x="4496146" y="213808"/>
            <a:ext cx="134438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DCECE"/>
                </a:solidFill>
                <a:latin typeface="Lato Black"/>
                <a:ea typeface="Lato Black"/>
                <a:cs typeface="Lato Black"/>
              </a:rPr>
              <a:t>/users</a:t>
            </a:r>
            <a:endParaRPr lang="en" sz="3500">
              <a:solidFill>
                <a:srgbClr val="0DCECE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5" name="Google Shape;300;p35">
            <a:extLst>
              <a:ext uri="{FF2B5EF4-FFF2-40B4-BE49-F238E27FC236}">
                <a16:creationId xmlns:a16="http://schemas.microsoft.com/office/drawing/2014/main" id="{1CDD5F2B-4153-B1A7-9E88-7CF33F40C10B}"/>
              </a:ext>
            </a:extLst>
          </p:cNvPr>
          <p:cNvSpPr txBox="1"/>
          <p:nvPr/>
        </p:nvSpPr>
        <p:spPr>
          <a:xfrm>
            <a:off x="5781857" y="434206"/>
            <a:ext cx="3363974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9FEC"/>
                </a:solidFill>
                <a:latin typeface="Lato Black"/>
                <a:ea typeface="Lato Black"/>
                <a:cs typeface="Lato Black"/>
              </a:rPr>
              <a:t>?name=tasneem</a:t>
            </a:r>
            <a:endParaRPr lang="en" sz="3500">
              <a:solidFill>
                <a:srgbClr val="FF9FEC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6" name="Google Shape;205;p27">
            <a:extLst>
              <a:ext uri="{FF2B5EF4-FFF2-40B4-BE49-F238E27FC236}">
                <a16:creationId xmlns:a16="http://schemas.microsoft.com/office/drawing/2014/main" id="{CC428F07-50DF-0604-F461-C0E45648593F}"/>
              </a:ext>
            </a:extLst>
          </p:cNvPr>
          <p:cNvSpPr txBox="1"/>
          <p:nvPr/>
        </p:nvSpPr>
        <p:spPr>
          <a:xfrm>
            <a:off x="74686" y="864058"/>
            <a:ext cx="449953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2500">
                <a:solidFill>
                  <a:srgbClr val="F4A545"/>
                </a:solidFill>
                <a:latin typeface="Lato Black"/>
                <a:ea typeface="Lato Black"/>
                <a:cs typeface="Lato Black"/>
                <a:sym typeface="Satisfy"/>
              </a:rPr>
              <a:t>Base URL</a:t>
            </a:r>
            <a:endParaRPr lang="en-US" sz="250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7" name="Google Shape;262;p31">
            <a:extLst>
              <a:ext uri="{FF2B5EF4-FFF2-40B4-BE49-F238E27FC236}">
                <a16:creationId xmlns:a16="http://schemas.microsoft.com/office/drawing/2014/main" id="{CBF28025-853E-EC79-32B6-FB73DE7868D6}"/>
              </a:ext>
            </a:extLst>
          </p:cNvPr>
          <p:cNvSpPr txBox="1"/>
          <p:nvPr/>
        </p:nvSpPr>
        <p:spPr>
          <a:xfrm>
            <a:off x="4496146" y="861508"/>
            <a:ext cx="18233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7"/>
              </a:lnSpc>
            </a:pPr>
            <a:r>
              <a:rPr lang="en" sz="2500">
                <a:solidFill>
                  <a:srgbClr val="0DCECE"/>
                </a:solidFill>
                <a:latin typeface="Lato Black"/>
                <a:ea typeface="Lato Black"/>
                <a:cs typeface="Lato Black"/>
              </a:rPr>
              <a:t>End Point</a:t>
            </a:r>
            <a:endParaRPr lang="en" sz="2500">
              <a:solidFill>
                <a:srgbClr val="0DCECE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8" name="Google Shape;300;p35">
            <a:extLst>
              <a:ext uri="{FF2B5EF4-FFF2-40B4-BE49-F238E27FC236}">
                <a16:creationId xmlns:a16="http://schemas.microsoft.com/office/drawing/2014/main" id="{A276519E-9A0B-7D2D-2834-A51A754D9C3D}"/>
              </a:ext>
            </a:extLst>
          </p:cNvPr>
          <p:cNvSpPr txBox="1"/>
          <p:nvPr/>
        </p:nvSpPr>
        <p:spPr>
          <a:xfrm>
            <a:off x="6277157" y="962163"/>
            <a:ext cx="2868674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" sz="2500">
                <a:solidFill>
                  <a:srgbClr val="FF9FEC"/>
                </a:solidFill>
                <a:latin typeface="Lato Black"/>
                <a:ea typeface="Lato Black"/>
                <a:cs typeface="Lato Black"/>
              </a:rPr>
              <a:t>Query Parameter</a:t>
            </a:r>
            <a:endParaRPr lang="en-US" sz="2500"/>
          </a:p>
        </p:txBody>
      </p:sp>
      <p:sp>
        <p:nvSpPr>
          <p:cNvPr id="19" name="Google Shape;205;p27">
            <a:extLst>
              <a:ext uri="{FF2B5EF4-FFF2-40B4-BE49-F238E27FC236}">
                <a16:creationId xmlns:a16="http://schemas.microsoft.com/office/drawing/2014/main" id="{F802F662-4BA9-7935-0071-B7FFBD21B89C}"/>
              </a:ext>
            </a:extLst>
          </p:cNvPr>
          <p:cNvSpPr txBox="1"/>
          <p:nvPr/>
        </p:nvSpPr>
        <p:spPr>
          <a:xfrm>
            <a:off x="74686" y="1620615"/>
            <a:ext cx="531596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sz="2400">
                <a:solidFill>
                  <a:srgbClr val="F4A545"/>
                </a:solidFill>
                <a:latin typeface="Lato Black"/>
                <a:ea typeface="Lato Black"/>
                <a:cs typeface="Lato Black"/>
                <a:sym typeface="Satisfy"/>
              </a:rPr>
              <a:t>Body</a:t>
            </a:r>
            <a:br>
              <a:rPr lang="en" sz="2400">
                <a:latin typeface="Lato Black"/>
                <a:ea typeface="Lato Black"/>
                <a:cs typeface="Lato Black"/>
              </a:rPr>
            </a:br>
            <a:r>
              <a:rPr lang="en" sz="2400">
                <a:solidFill>
                  <a:srgbClr val="F4A545"/>
                </a:solidFill>
                <a:latin typeface="Lato Black"/>
                <a:ea typeface="Lato Black"/>
                <a:cs typeface="Lato Black"/>
              </a:rPr>
              <a:t>{</a:t>
            </a:r>
            <a:endParaRPr lang="en" sz="2400">
              <a:solidFill>
                <a:srgbClr val="F4A545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r>
              <a:rPr lang="en" sz="2400">
                <a:solidFill>
                  <a:srgbClr val="F4A545"/>
                </a:solidFill>
                <a:latin typeface="Lato Black"/>
                <a:ea typeface="Lato Black"/>
                <a:cs typeface="Lato Black"/>
              </a:rPr>
              <a:t>   "name" : "tasneem"</a:t>
            </a:r>
          </a:p>
          <a:p>
            <a:r>
              <a:rPr lang="en" sz="2400">
                <a:solidFill>
                  <a:srgbClr val="F4A545"/>
                </a:solidFill>
                <a:latin typeface="Lato Black"/>
                <a:ea typeface="Lato Black"/>
                <a:cs typeface="Lato Black"/>
              </a:rPr>
              <a:t>   "email" : "tasneem@gmail.com"</a:t>
            </a:r>
            <a:br>
              <a:rPr lang="en" sz="2400">
                <a:latin typeface="Lato Black"/>
                <a:ea typeface="Lato Black"/>
                <a:cs typeface="Lato Black"/>
              </a:rPr>
            </a:br>
            <a:r>
              <a:rPr lang="en" sz="2400">
                <a:solidFill>
                  <a:srgbClr val="F4A545"/>
                </a:solidFill>
                <a:latin typeface="Lato Black"/>
                <a:ea typeface="Lato Black"/>
                <a:cs typeface="Lato Black"/>
              </a:rPr>
              <a:t>}</a:t>
            </a:r>
            <a:endParaRPr lang="en" sz="2400">
              <a:solidFill>
                <a:srgbClr val="F4A545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0" name="Google Shape;262;p31">
            <a:extLst>
              <a:ext uri="{FF2B5EF4-FFF2-40B4-BE49-F238E27FC236}">
                <a16:creationId xmlns:a16="http://schemas.microsoft.com/office/drawing/2014/main" id="{32447965-92EF-23AD-E698-DF3A5EC1FE94}"/>
              </a:ext>
            </a:extLst>
          </p:cNvPr>
          <p:cNvSpPr txBox="1"/>
          <p:nvPr/>
        </p:nvSpPr>
        <p:spPr>
          <a:xfrm>
            <a:off x="4866259" y="2053492"/>
            <a:ext cx="4098472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7"/>
              </a:lnSpc>
            </a:pPr>
            <a:r>
              <a:rPr lang="en" sz="2800">
                <a:solidFill>
                  <a:srgbClr val="0DCECE"/>
                </a:solidFill>
                <a:latin typeface="Lato Black"/>
                <a:ea typeface="Lato Black"/>
                <a:cs typeface="Lato Black"/>
              </a:rPr>
              <a:t>Headers</a:t>
            </a:r>
            <a:br>
              <a:rPr lang="en" sz="2800">
                <a:latin typeface="Lato Black"/>
                <a:ea typeface="Lato Black"/>
                <a:cs typeface="Lato Black"/>
              </a:rPr>
            </a:br>
            <a:r>
              <a:rPr lang="en" sz="2800">
                <a:solidFill>
                  <a:srgbClr val="0DCECE"/>
                </a:solidFill>
                <a:latin typeface="Lato Black"/>
                <a:ea typeface="Lato Black"/>
                <a:cs typeface="Lato Black"/>
              </a:rPr>
              <a:t>Accepted-Language: 'ar'</a:t>
            </a:r>
            <a:endParaRPr lang="en" sz="2800">
              <a:solidFill>
                <a:srgbClr val="0DCECE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47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/>
        </p:nvSpPr>
        <p:spPr>
          <a:xfrm>
            <a:off x="2008760" y="268237"/>
            <a:ext cx="48822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7"/>
              </a:lnSpc>
            </a:pPr>
            <a:r>
              <a:rPr lang="en" sz="3500" dirty="0">
                <a:solidFill>
                  <a:srgbClr val="0DCECE"/>
                </a:solidFill>
                <a:latin typeface="Lato Black"/>
                <a:ea typeface="Lato Black"/>
                <a:cs typeface="Lato Black"/>
              </a:rPr>
              <a:t>HTTP </a:t>
            </a:r>
            <a:r>
              <a:rPr lang="en" sz="3500">
                <a:solidFill>
                  <a:srgbClr val="0DCECE"/>
                </a:solidFill>
                <a:latin typeface="Lato Black"/>
                <a:ea typeface="Lato Black"/>
                <a:cs typeface="Lato Black"/>
              </a:rPr>
              <a:t>Requests</a:t>
            </a:r>
            <a:endParaRPr lang="en" sz="3500" dirty="0" err="1">
              <a:solidFill>
                <a:srgbClr val="0DCECE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/>
          <p:cNvSpPr/>
          <p:nvPr/>
        </p:nvSpPr>
        <p:spPr>
          <a:xfrm rot="19856537">
            <a:off x="174832" y="159020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166A153-E86D-D507-C188-1D9C0491E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4" name="Google Shape;204;p27">
            <a:extLst>
              <a:ext uri="{FF2B5EF4-FFF2-40B4-BE49-F238E27FC236}">
                <a16:creationId xmlns:a16="http://schemas.microsoft.com/office/drawing/2014/main" id="{867F86E2-3464-F9C9-E8AD-83A9B31D54C2}"/>
              </a:ext>
            </a:extLst>
          </p:cNvPr>
          <p:cNvSpPr txBox="1"/>
          <p:nvPr/>
        </p:nvSpPr>
        <p:spPr>
          <a:xfrm>
            <a:off x="169874" y="2359318"/>
            <a:ext cx="2542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Retrieve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 all Data</a:t>
            </a:r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Google Shape;205;p27">
            <a:extLst>
              <a:ext uri="{FF2B5EF4-FFF2-40B4-BE49-F238E27FC236}">
                <a16:creationId xmlns:a16="http://schemas.microsoft.com/office/drawing/2014/main" id="{3BB1AE13-7C9B-96A5-5ED9-D72D095515FA}"/>
              </a:ext>
            </a:extLst>
          </p:cNvPr>
          <p:cNvSpPr txBox="1"/>
          <p:nvPr/>
        </p:nvSpPr>
        <p:spPr>
          <a:xfrm>
            <a:off x="983644" y="1664157"/>
            <a:ext cx="972561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sz="2500">
                <a:solidFill>
                  <a:srgbClr val="F4A545"/>
                </a:solidFill>
                <a:latin typeface="Lato Black"/>
                <a:ea typeface="Lato Black"/>
                <a:cs typeface="Lato Black"/>
                <a:sym typeface="Satisfy"/>
              </a:rPr>
              <a:t>Get</a:t>
            </a:r>
            <a:endParaRPr sz="250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Google Shape;300;p35">
            <a:extLst>
              <a:ext uri="{FF2B5EF4-FFF2-40B4-BE49-F238E27FC236}">
                <a16:creationId xmlns:a16="http://schemas.microsoft.com/office/drawing/2014/main" id="{50B7FEDB-9F50-2A97-716A-F91A3AEC32A5}"/>
              </a:ext>
            </a:extLst>
          </p:cNvPr>
          <p:cNvSpPr txBox="1"/>
          <p:nvPr/>
        </p:nvSpPr>
        <p:spPr>
          <a:xfrm>
            <a:off x="3626487" y="1778593"/>
            <a:ext cx="1513403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" sz="2500">
                <a:solidFill>
                  <a:srgbClr val="FF9FEC"/>
                </a:solidFill>
                <a:latin typeface="Lato Black"/>
                <a:ea typeface="Lato Black"/>
                <a:cs typeface="Lato Black"/>
              </a:rPr>
              <a:t>Post</a:t>
            </a:r>
            <a:endParaRPr lang="en" sz="2500" dirty="0">
              <a:solidFill>
                <a:srgbClr val="FF9FEC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8" name="Google Shape;204;p27">
            <a:extLst>
              <a:ext uri="{FF2B5EF4-FFF2-40B4-BE49-F238E27FC236}">
                <a16:creationId xmlns:a16="http://schemas.microsoft.com/office/drawing/2014/main" id="{07020769-C4E4-FEBD-B721-237E812872BC}"/>
              </a:ext>
            </a:extLst>
          </p:cNvPr>
          <p:cNvSpPr txBox="1"/>
          <p:nvPr/>
        </p:nvSpPr>
        <p:spPr>
          <a:xfrm>
            <a:off x="3114461" y="2419189"/>
            <a:ext cx="2542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</a:rPr>
              <a:t>Create new </a:t>
            </a:r>
            <a:r>
              <a:rPr lang="en" sz="2000">
                <a:solidFill>
                  <a:srgbClr val="FFFDFC"/>
                </a:solidFill>
                <a:latin typeface="Lato"/>
                <a:ea typeface="Lato"/>
                <a:cs typeface="Lato"/>
              </a:rPr>
              <a:t>Recourse</a:t>
            </a:r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" name="Google Shape;204;p27">
            <a:extLst>
              <a:ext uri="{FF2B5EF4-FFF2-40B4-BE49-F238E27FC236}">
                <a16:creationId xmlns:a16="http://schemas.microsoft.com/office/drawing/2014/main" id="{A7390A7F-C4E3-4BF8-B7B5-2DB4CCD3F17F}"/>
              </a:ext>
            </a:extLst>
          </p:cNvPr>
          <p:cNvSpPr txBox="1"/>
          <p:nvPr/>
        </p:nvSpPr>
        <p:spPr>
          <a:xfrm>
            <a:off x="6140688" y="2261346"/>
            <a:ext cx="254210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</a:rPr>
              <a:t>Replace </a:t>
            </a:r>
            <a:r>
              <a:rPr lang="en" sz="2000">
                <a:solidFill>
                  <a:srgbClr val="FFFDFC"/>
                </a:solidFill>
                <a:latin typeface="Lato"/>
                <a:ea typeface="Lato"/>
                <a:cs typeface="Lato"/>
              </a:rPr>
              <a:t>Recourse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</a:rPr>
              <a:t> </a:t>
            </a:r>
            <a:b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</a:rPr>
            </a:b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</a:rPr>
              <a:t>or Create new one</a:t>
            </a:r>
          </a:p>
        </p:txBody>
      </p:sp>
      <p:sp>
        <p:nvSpPr>
          <p:cNvPr id="10" name="Google Shape;205;p27">
            <a:extLst>
              <a:ext uri="{FF2B5EF4-FFF2-40B4-BE49-F238E27FC236}">
                <a16:creationId xmlns:a16="http://schemas.microsoft.com/office/drawing/2014/main" id="{48DF98FF-6F29-C14D-4001-183DB2D74DF7}"/>
              </a:ext>
            </a:extLst>
          </p:cNvPr>
          <p:cNvSpPr txBox="1"/>
          <p:nvPr/>
        </p:nvSpPr>
        <p:spPr>
          <a:xfrm>
            <a:off x="6927244" y="1664157"/>
            <a:ext cx="972561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sz="2500">
                <a:solidFill>
                  <a:srgbClr val="F4A545"/>
                </a:solidFill>
                <a:latin typeface="Lato Black"/>
                <a:ea typeface="Lato Black"/>
                <a:cs typeface="Lato Black"/>
                <a:sym typeface="Satisfy"/>
              </a:rPr>
              <a:t>Put</a:t>
            </a:r>
            <a:endParaRPr lang="en" sz="2500">
              <a:solidFill>
                <a:srgbClr val="F4A545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" name="Google Shape;300;p35">
            <a:extLst>
              <a:ext uri="{FF2B5EF4-FFF2-40B4-BE49-F238E27FC236}">
                <a16:creationId xmlns:a16="http://schemas.microsoft.com/office/drawing/2014/main" id="{EB8CC45F-BCD8-7FF2-B604-F862825AC8B6}"/>
              </a:ext>
            </a:extLst>
          </p:cNvPr>
          <p:cNvSpPr txBox="1"/>
          <p:nvPr/>
        </p:nvSpPr>
        <p:spPr>
          <a:xfrm>
            <a:off x="681901" y="3204621"/>
            <a:ext cx="1513403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" sz="2500">
                <a:solidFill>
                  <a:srgbClr val="FF9FEC"/>
                </a:solidFill>
                <a:latin typeface="Lato Black"/>
                <a:ea typeface="Lato Black"/>
                <a:cs typeface="Lato Black"/>
              </a:rPr>
              <a:t>Patch</a:t>
            </a:r>
            <a:endParaRPr lang="en" sz="2500" dirty="0">
              <a:solidFill>
                <a:srgbClr val="FF9FEC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12" name="Google Shape;204;p27">
            <a:extLst>
              <a:ext uri="{FF2B5EF4-FFF2-40B4-BE49-F238E27FC236}">
                <a16:creationId xmlns:a16="http://schemas.microsoft.com/office/drawing/2014/main" id="{69297202-C23E-21BB-582B-5A21067D0E15}"/>
              </a:ext>
            </a:extLst>
          </p:cNvPr>
          <p:cNvSpPr txBox="1"/>
          <p:nvPr/>
        </p:nvSpPr>
        <p:spPr>
          <a:xfrm>
            <a:off x="169875" y="3845217"/>
            <a:ext cx="2542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>
                <a:solidFill>
                  <a:srgbClr val="FFFDFC"/>
                </a:solidFill>
                <a:latin typeface="Lato"/>
                <a:ea typeface="Lato"/>
                <a:cs typeface="Lato"/>
              </a:rPr>
              <a:t>Partial Modification</a:t>
            </a:r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3" name="Google Shape;204;p27">
            <a:extLst>
              <a:ext uri="{FF2B5EF4-FFF2-40B4-BE49-F238E27FC236}">
                <a16:creationId xmlns:a16="http://schemas.microsoft.com/office/drawing/2014/main" id="{A756887A-9A51-22BA-5BEE-A0ED79AA1AAA}"/>
              </a:ext>
            </a:extLst>
          </p:cNvPr>
          <p:cNvSpPr txBox="1"/>
          <p:nvPr/>
        </p:nvSpPr>
        <p:spPr>
          <a:xfrm>
            <a:off x="3413817" y="3877875"/>
            <a:ext cx="2542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>
                <a:solidFill>
                  <a:srgbClr val="FFFDFC"/>
                </a:solidFill>
                <a:latin typeface="Lato"/>
                <a:ea typeface="Lato"/>
                <a:cs typeface="Lato"/>
              </a:rPr>
              <a:t>Delete Data</a:t>
            </a:r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5" name="Google Shape;205;p27">
            <a:extLst>
              <a:ext uri="{FF2B5EF4-FFF2-40B4-BE49-F238E27FC236}">
                <a16:creationId xmlns:a16="http://schemas.microsoft.com/office/drawing/2014/main" id="{E2E8ACB4-02FE-6C74-FB21-208B9967EC50}"/>
              </a:ext>
            </a:extLst>
          </p:cNvPr>
          <p:cNvSpPr txBox="1"/>
          <p:nvPr/>
        </p:nvSpPr>
        <p:spPr>
          <a:xfrm>
            <a:off x="4227587" y="3182714"/>
            <a:ext cx="972561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" sz="2500">
                <a:solidFill>
                  <a:srgbClr val="F4A545"/>
                </a:solidFill>
                <a:latin typeface="Lato Black"/>
                <a:ea typeface="Lato Black"/>
                <a:cs typeface="Lato Black"/>
              </a:rPr>
              <a:t>Delete</a:t>
            </a:r>
            <a:endParaRPr lang="en" sz="2500" dirty="0">
              <a:solidFill>
                <a:srgbClr val="F4A545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E362C448-1B3D-466C-E35B-9F71FF56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C20295A5-D274-BD2A-3B57-D5DC8823124B}"/>
              </a:ext>
            </a:extLst>
          </p:cNvPr>
          <p:cNvSpPr txBox="1"/>
          <p:nvPr/>
        </p:nvSpPr>
        <p:spPr>
          <a:xfrm>
            <a:off x="85571" y="102058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3500">
                <a:solidFill>
                  <a:srgbClr val="F4A545"/>
                </a:solidFill>
                <a:latin typeface="Lato Black"/>
                <a:ea typeface="Lato Black"/>
                <a:cs typeface="Lato Black"/>
                <a:sym typeface="Satisfy"/>
              </a:rPr>
              <a:t>API Testing Tool</a:t>
            </a:r>
            <a:endParaRPr sz="350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2A1C992-4976-6945-51CB-6DCD2D95A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8B5BD537-E4D9-F783-61D9-E2DDFBF758A6}"/>
              </a:ext>
            </a:extLst>
          </p:cNvPr>
          <p:cNvSpPr/>
          <p:nvPr/>
        </p:nvSpPr>
        <p:spPr>
          <a:xfrm>
            <a:off x="1704324" y="736435"/>
            <a:ext cx="5054993" cy="4190405"/>
          </a:xfrm>
          <a:custGeom>
            <a:avLst/>
            <a:gdLst/>
            <a:ahLst/>
            <a:cxnLst/>
            <a:rect l="l" t="t" r="r" b="b"/>
            <a:pathLst>
              <a:path w="7662121" h="6073633">
                <a:moveTo>
                  <a:pt x="0" y="0"/>
                </a:moveTo>
                <a:lnTo>
                  <a:pt x="7662122" y="0"/>
                </a:lnTo>
                <a:lnTo>
                  <a:pt x="7662122" y="6073633"/>
                </a:lnTo>
                <a:lnTo>
                  <a:pt x="0" y="6073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009428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478EAE69-CDF9-9F4D-A20F-3FFB99E0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90D0C642-4566-F681-1538-7AED38DFF3F6}"/>
              </a:ext>
            </a:extLst>
          </p:cNvPr>
          <p:cNvSpPr txBox="1"/>
          <p:nvPr/>
        </p:nvSpPr>
        <p:spPr>
          <a:xfrm>
            <a:off x="1509215" y="646477"/>
            <a:ext cx="557921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9FEC"/>
                </a:solidFill>
                <a:latin typeface="Lato Black"/>
                <a:ea typeface="Lato Black"/>
                <a:cs typeface="Lato Black"/>
              </a:rPr>
              <a:t>Dio</a:t>
            </a:r>
            <a:endParaRPr lang="en" sz="4000" dirty="0">
              <a:solidFill>
                <a:srgbClr val="FF9FEC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8FF2001-A10D-AA18-35F0-2BB31F2D5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1E55EAEF-6782-70AE-C8A6-F8253D836906}"/>
              </a:ext>
            </a:extLst>
          </p:cNvPr>
          <p:cNvSpPr txBox="1"/>
          <p:nvPr/>
        </p:nvSpPr>
        <p:spPr>
          <a:xfrm>
            <a:off x="300792" y="1942733"/>
            <a:ext cx="837139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3200" dirty="0">
                <a:solidFill>
                  <a:srgbClr val="FFFDFC"/>
                </a:solidFill>
                <a:latin typeface="Lato"/>
                <a:ea typeface="Lato"/>
                <a:cs typeface="Lato"/>
              </a:rPr>
              <a:t>Dio is a powerful HTTP client for Dart.</a:t>
            </a:r>
            <a:br>
              <a:rPr lang="en" sz="3200" dirty="0">
                <a:latin typeface="Lato"/>
                <a:ea typeface="Lato"/>
                <a:cs typeface="Lato"/>
              </a:rPr>
            </a:br>
            <a:r>
              <a:rPr lang="en" sz="3200" dirty="0">
                <a:solidFill>
                  <a:srgbClr val="FFFDFC"/>
                </a:solidFill>
                <a:latin typeface="Lato"/>
                <a:ea typeface="Lato"/>
                <a:cs typeface="Lato"/>
              </a:rPr>
              <a:t>Dio is easy to use, simple to handle and has better error </a:t>
            </a:r>
            <a:r>
              <a:rPr lang="en" sz="3200">
                <a:solidFill>
                  <a:srgbClr val="FFFDFC"/>
                </a:solidFill>
                <a:latin typeface="Lato"/>
                <a:ea typeface="Lato"/>
                <a:cs typeface="Lato"/>
              </a:rPr>
              <a:t>handling.</a:t>
            </a:r>
            <a:endParaRPr lang="en" sz="3200">
              <a:solidFill>
                <a:srgbClr val="273239"/>
              </a:solidFill>
              <a:highlight>
                <a:srgbClr val="FFFFFF"/>
              </a:highlight>
              <a:latin typeface="Nuni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4459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B25FBD73-6FFC-816F-C50B-511274CC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0EC18FAA-9C98-10E7-72AA-C21F16F3A073}"/>
              </a:ext>
            </a:extLst>
          </p:cNvPr>
          <p:cNvSpPr txBox="1"/>
          <p:nvPr/>
        </p:nvSpPr>
        <p:spPr>
          <a:xfrm>
            <a:off x="1988186" y="221934"/>
            <a:ext cx="5171003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" sz="3500">
                <a:solidFill>
                  <a:srgbClr val="FF9FEC"/>
                </a:solidFill>
                <a:latin typeface="Lato Black"/>
                <a:ea typeface="Lato Black"/>
                <a:cs typeface="Lato Black"/>
              </a:rPr>
              <a:t>Using</a:t>
            </a:r>
            <a:r>
              <a:rPr lang="en" sz="3500" dirty="0">
                <a:solidFill>
                  <a:srgbClr val="FF9FEC"/>
                </a:solidFill>
                <a:latin typeface="Lato Black"/>
                <a:ea typeface="Lato Black"/>
                <a:cs typeface="Lato Black"/>
              </a:rPr>
              <a:t>  Dio</a:t>
            </a:r>
            <a:endParaRPr lang="en" sz="3500" dirty="0">
              <a:solidFill>
                <a:srgbClr val="FF9FEC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EBE86B6-DC85-055E-DAA4-877511AED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7B4152-3869-A552-1A50-908B379F4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14" y="789392"/>
            <a:ext cx="7875815" cy="396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9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60A20DCF-3C24-91E1-8C64-74C8C72CD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79523F35-C721-588B-8B3D-09C5D0C4CC8C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D2AA4A09-1C41-60BF-0D3E-78F4ED89993F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>
            <a:extLst>
              <a:ext uri="{FF2B5EF4-FFF2-40B4-BE49-F238E27FC236}">
                <a16:creationId xmlns:a16="http://schemas.microsoft.com/office/drawing/2014/main" id="{B909CBCD-080A-6929-129F-A19663909B2E}"/>
              </a:ext>
            </a:extLst>
          </p:cNvPr>
          <p:cNvSpPr txBox="1"/>
          <p:nvPr/>
        </p:nvSpPr>
        <p:spPr>
          <a:xfrm>
            <a:off x="437675" y="2191004"/>
            <a:ext cx="826864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" sz="3200" dirty="0">
                <a:solidFill>
                  <a:srgbClr val="F9A629"/>
                </a:solidFill>
                <a:latin typeface="Lato Black"/>
                <a:ea typeface="Lato Black"/>
                <a:cs typeface="Lato Black"/>
              </a:rPr>
              <a:t>What about the rest of the funct</a:t>
            </a:r>
            <a:r>
              <a:rPr lang="en" sz="3200">
                <a:solidFill>
                  <a:srgbClr val="F9A629"/>
                </a:solidFill>
                <a:latin typeface="Lato Black"/>
                <a:ea typeface="Lato Black"/>
                <a:cs typeface="Lato Black"/>
              </a:rPr>
              <a:t>ions?</a:t>
            </a:r>
            <a:endParaRPr lang="en" sz="3200" dirty="0">
              <a:solidFill>
                <a:srgbClr val="F9A629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48DFBF6-4CC9-5F9F-4919-001188F4B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1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/>
        </p:nvSpPr>
        <p:spPr>
          <a:xfrm>
            <a:off x="1864536" y="1685925"/>
            <a:ext cx="541492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b="0" i="0" u="none" strike="noStrike" cap="none">
                <a:solidFill>
                  <a:srgbClr val="FF9FEC"/>
                </a:solidFill>
                <a:latin typeface="Satisfy"/>
                <a:ea typeface="Satisfy"/>
                <a:cs typeface="Satisfy"/>
                <a:sym typeface="Satisfy"/>
              </a:rPr>
              <a:t>Thank you!</a:t>
            </a:r>
            <a:endParaRPr sz="700"/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B39B16-6F25-5CC7-546A-86E06719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24EAE4"/>
      </a:dk1>
      <a:lt1>
        <a:srgbClr val="20124D"/>
      </a:lt1>
      <a:dk2>
        <a:srgbClr val="FFFDFC"/>
      </a:dk2>
      <a:lt2>
        <a:srgbClr val="674EA7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120</cp:revision>
  <dcterms:modified xsi:type="dcterms:W3CDTF">2026-07-18T15:06:59Z</dcterms:modified>
</cp:coreProperties>
</file>