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25"/>
  </p:notesMasterIdLst>
  <p:sldIdLst>
    <p:sldId id="256" r:id="rId3"/>
    <p:sldId id="260" r:id="rId4"/>
    <p:sldId id="275" r:id="rId5"/>
    <p:sldId id="291" r:id="rId6"/>
    <p:sldId id="274" r:id="rId7"/>
    <p:sldId id="264" r:id="rId8"/>
    <p:sldId id="292" r:id="rId9"/>
    <p:sldId id="288" r:id="rId10"/>
    <p:sldId id="303" r:id="rId11"/>
    <p:sldId id="304" r:id="rId12"/>
    <p:sldId id="293" r:id="rId13"/>
    <p:sldId id="294" r:id="rId14"/>
    <p:sldId id="295" r:id="rId15"/>
    <p:sldId id="296" r:id="rId16"/>
    <p:sldId id="297" r:id="rId17"/>
    <p:sldId id="284" r:id="rId18"/>
    <p:sldId id="298" r:id="rId19"/>
    <p:sldId id="299" r:id="rId20"/>
    <p:sldId id="300" r:id="rId21"/>
    <p:sldId id="301" r:id="rId22"/>
    <p:sldId id="302" r:id="rId23"/>
    <p:sldId id="271" r:id="rId24"/>
  </p:sldIdLst>
  <p:sldSz cx="9144000" cy="5143500" type="screen16x9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Lato Black" panose="020F0502020204030203" pitchFamily="34" charset="0"/>
      <p:bold r:id="rId30"/>
      <p:boldItalic r:id="rId31"/>
    </p:embeddedFont>
    <p:embeddedFont>
      <p:font typeface="Satisfy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5" y="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D535D53-E47A-D84E-DDFD-76F7D8BF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B6313465-7627-FB93-C048-9A4472BC8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1793C3E6-A70F-ED9C-AC7F-B42B56C46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490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D2190CE-8D25-5DF0-889D-20504D97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034FBE3D-D240-76AD-4455-5F0CA5B0A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DCF26A7A-9ED1-C774-93F6-6B805473F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6488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DC2C09F2-5B16-6B8E-6BF8-555A7CF3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>
            <a:extLst>
              <a:ext uri="{FF2B5EF4-FFF2-40B4-BE49-F238E27FC236}">
                <a16:creationId xmlns:a16="http://schemas.microsoft.com/office/drawing/2014/main" id="{3FB6BD6A-6377-FFB0-0FBD-DF1EB0F5B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>
            <a:extLst>
              <a:ext uri="{FF2B5EF4-FFF2-40B4-BE49-F238E27FC236}">
                <a16:creationId xmlns:a16="http://schemas.microsoft.com/office/drawing/2014/main" id="{4463DC4F-BFBB-C309-D55C-6C7449CF6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391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D9DCD883-6220-649F-01AD-F943A511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C4B1E71D-8A5D-A39B-1307-CBF597CD1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30834189-8F07-18F4-D8ED-5D8086B6E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7676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6F48607-1960-7485-A51D-4DA1A44C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79112447-35A6-CD85-C885-F5EA06FFF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40E84458-93B2-387C-A927-2B22CBF18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9006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206A4F9-5A16-B443-D957-EACEE6BA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E7DE25BE-44D8-F53A-AA40-253C48991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53CF70E4-1190-D833-4E79-504A2B701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7981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B881AF05-04B5-3DC6-33C9-835D8EEF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08C79E36-00EB-8F36-6914-7E10B5102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155558E1-69F2-B96F-8E15-D65ED698C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2370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5A6D6EB2-A069-2939-1A92-8373B62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9D0574C3-02CC-99D5-E9A3-844BA810CB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5DFF9B57-FA77-3D0E-38C9-6208FEA54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5747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5C7096F6-32BA-5F54-4FA9-3434AB5D6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662C5A83-E857-847A-020B-37FE28CC4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DD2CA284-C9E9-8958-8315-A004EBB17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7777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B906DD5F-44F0-8D0F-A704-20A324BF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1624FC4B-7E81-5814-DF61-9C6F4D24C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B9D8E3E5-57E6-F847-25E1-2B15302A7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6895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C60F1D2-0E65-6C5E-CDCF-F77E810FD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D50243CE-AF28-6BE4-373D-8FCD1B818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4517F6AE-00F5-FA42-378C-948CA3EA19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4815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2ADDECDB-97EB-EBD5-E6CE-DED9871D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53A6690F-4520-D6BE-F91F-2CF3CE0B9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88BB8B51-2FDF-875F-8CD1-C0CF517A6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354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C1D5E027-6A5F-A7F0-CCE8-751FC6A3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1425CB39-7144-A542-2788-633BA9C76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BCDE41BD-B8B0-C77A-688E-F5E95B31C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473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755F1BB3-11C1-2268-DEC6-48EAC8BD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DD7A06B8-649F-240C-E708-51E6CBEDD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4D8999BE-19DB-3295-64EC-BF51AF30C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92399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59A61B59-F4FD-7994-5175-55970FB4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4BBA4FA8-1659-08F3-6C9D-331F85CCA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316785BD-B67C-E086-180F-091D72D517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9328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2F2E7FC0-F8BB-E0E7-D615-D1B3AAE91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5A95E3F2-B2BE-6A7C-D07D-5EA0A87562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CBBE3C77-A986-D1DA-57CC-86972804A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55259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2CEDCCAC-9CCE-94D3-0761-3BA28D04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13AED8D9-6AF9-51F5-8146-E71B7A3657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D9C53EBE-53EF-47DE-E026-A3C19B8F6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9725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4DEFEC17-0BA1-7869-5641-201775D0A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080C94A7-BEA7-C310-94FD-F98B5EC68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4992F286-D866-5BD9-098B-E61B3430E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7450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55716ace1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55716ace1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rot="2002332">
            <a:off x="5424541" y="4086766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3"/>
                </a:lnTo>
                <a:lnTo>
                  <a:pt x="0" y="1650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73819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5917804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6" name="Google Shape;16;p2"/>
          <p:cNvSpPr/>
          <p:nvPr/>
        </p:nvSpPr>
        <p:spPr>
          <a:xfrm>
            <a:off x="591780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7" name="Google Shape;17;p2"/>
          <p:cNvSpPr/>
          <p:nvPr/>
        </p:nvSpPr>
        <p:spPr>
          <a:xfrm>
            <a:off x="267123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8" name="Google Shape;18;p2"/>
          <p:cNvSpPr/>
          <p:nvPr/>
        </p:nvSpPr>
        <p:spPr>
          <a:xfrm>
            <a:off x="73819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9" name="Google Shape;19;p2"/>
          <p:cNvSpPr/>
          <p:nvPr/>
        </p:nvSpPr>
        <p:spPr>
          <a:xfrm rot="5400000">
            <a:off x="6450462" y="2559289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0" name="Google Shape;20;p2"/>
          <p:cNvSpPr/>
          <p:nvPr/>
        </p:nvSpPr>
        <p:spPr>
          <a:xfrm rot="5400000">
            <a:off x="-1993869" y="2564052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95812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5" name="Google Shape;25;p3"/>
          <p:cNvSpPr/>
          <p:nvPr/>
        </p:nvSpPr>
        <p:spPr>
          <a:xfrm>
            <a:off x="2995812" y="475275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6" name="Google Shape;26;p3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3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516626" y="2625048"/>
            <a:ext cx="2222534" cy="2518452"/>
          </a:xfrm>
          <a:custGeom>
            <a:avLst/>
            <a:gdLst/>
            <a:ahLst/>
            <a:cxnLst/>
            <a:rect l="l" t="t" r="r" b="b"/>
            <a:pathLst>
              <a:path w="4445067" h="5036904" extrusionOk="0">
                <a:moveTo>
                  <a:pt x="0" y="0"/>
                </a:moveTo>
                <a:lnTo>
                  <a:pt x="4445067" y="0"/>
                </a:lnTo>
                <a:lnTo>
                  <a:pt x="4445067" y="5036904"/>
                </a:lnTo>
                <a:lnTo>
                  <a:pt x="0" y="5036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" name="Google Shape;39;p5"/>
          <p:cNvSpPr/>
          <p:nvPr/>
        </p:nvSpPr>
        <p:spPr>
          <a:xfrm>
            <a:off x="564344" y="3086100"/>
            <a:ext cx="1635633" cy="2057400"/>
          </a:xfrm>
          <a:custGeom>
            <a:avLst/>
            <a:gdLst/>
            <a:ahLst/>
            <a:cxnLst/>
            <a:rect l="l" t="t" r="r" b="b"/>
            <a:pathLst>
              <a:path w="3271266" h="4114800" extrusionOk="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" name="Google Shape;44;p6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" name="Google Shape;45;p6"/>
          <p:cNvSpPr/>
          <p:nvPr/>
        </p:nvSpPr>
        <p:spPr>
          <a:xfrm>
            <a:off x="8083819" y="3389255"/>
            <a:ext cx="1350734" cy="1349045"/>
          </a:xfrm>
          <a:custGeom>
            <a:avLst/>
            <a:gdLst/>
            <a:ahLst/>
            <a:cxnLst/>
            <a:rect l="l" t="t" r="r" b="b"/>
            <a:pathLst>
              <a:path w="2701467" h="2698090" extrusionOk="0">
                <a:moveTo>
                  <a:pt x="0" y="0"/>
                </a:moveTo>
                <a:lnTo>
                  <a:pt x="2701467" y="0"/>
                </a:lnTo>
                <a:lnTo>
                  <a:pt x="2701467" y="2698090"/>
                </a:lnTo>
                <a:lnTo>
                  <a:pt x="0" y="269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6"/>
          <p:cNvSpPr/>
          <p:nvPr/>
        </p:nvSpPr>
        <p:spPr>
          <a:xfrm rot="2002332">
            <a:off x="3959050" y="41335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306139" y="23488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7460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 rot="-1739939">
            <a:off x="864005" y="72122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2" name="Google Shape;52;p7"/>
          <p:cNvSpPr/>
          <p:nvPr/>
        </p:nvSpPr>
        <p:spPr>
          <a:xfrm rot="2002332">
            <a:off x="7661750" y="3722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4421614" y="39485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4310698" y="2715473"/>
            <a:ext cx="2372962" cy="2424482"/>
          </a:xfrm>
          <a:custGeom>
            <a:avLst/>
            <a:gdLst/>
            <a:ahLst/>
            <a:cxnLst/>
            <a:rect l="l" t="t" r="r" b="b"/>
            <a:pathLst>
              <a:path w="5616478" h="5738420" extrusionOk="0">
                <a:moveTo>
                  <a:pt x="0" y="0"/>
                </a:moveTo>
                <a:lnTo>
                  <a:pt x="5616478" y="0"/>
                </a:lnTo>
                <a:lnTo>
                  <a:pt x="5616478" y="5738420"/>
                </a:lnTo>
                <a:lnTo>
                  <a:pt x="0" y="5738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8"/>
          <p:cNvSpPr/>
          <p:nvPr/>
        </p:nvSpPr>
        <p:spPr>
          <a:xfrm>
            <a:off x="8127774" y="350879"/>
            <a:ext cx="873766" cy="1013063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76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72497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tisfy"/>
              <a:buNone/>
              <a:defRPr sz="2800">
                <a:solidFill>
                  <a:schemeClr val="dk1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atisfy"/>
              <a:buChar char="●"/>
              <a:defRPr sz="1800">
                <a:solidFill>
                  <a:schemeClr val="dk2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 Black"/>
              <a:buChar char="○"/>
              <a:defRPr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/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/>
          <p:cNvSpPr txBox="1"/>
          <p:nvPr/>
        </p:nvSpPr>
        <p:spPr>
          <a:xfrm>
            <a:off x="437675" y="1722918"/>
            <a:ext cx="826864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Intro to Flutter</a:t>
            </a:r>
            <a:endParaRPr sz="9000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8A728-C23D-22E6-556E-A75BB394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/>
        </p:nvSpPr>
        <p:spPr>
          <a:xfrm>
            <a:off x="529388" y="1633113"/>
            <a:ext cx="823461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5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Each element on the screen of the flutter app is a widget. The structure of code of apps is a tree of widgets.</a:t>
            </a:r>
            <a:endParaRPr sz="2500" dirty="0"/>
          </a:p>
        </p:txBody>
      </p:sp>
      <p:sp>
        <p:nvSpPr>
          <p:cNvPr id="205" name="Google Shape;205;p27"/>
          <p:cNvSpPr txBox="1"/>
          <p:nvPr/>
        </p:nvSpPr>
        <p:spPr>
          <a:xfrm>
            <a:off x="214986" y="192254"/>
            <a:ext cx="854901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What is a Widget?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104E588-414D-9E89-50E7-CFB985C1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16" name="Google Shape;204;p27">
            <a:extLst>
              <a:ext uri="{FF2B5EF4-FFF2-40B4-BE49-F238E27FC236}">
                <a16:creationId xmlns:a16="http://schemas.microsoft.com/office/drawing/2014/main" id="{1A3ABC04-73B4-C4B0-36FD-679680CF1FE6}"/>
              </a:ext>
            </a:extLst>
          </p:cNvPr>
          <p:cNvSpPr txBox="1"/>
          <p:nvPr/>
        </p:nvSpPr>
        <p:spPr>
          <a:xfrm>
            <a:off x="214986" y="2807792"/>
            <a:ext cx="8234615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5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Flutter is a Widget inside a Widget inside a widget,.. </a:t>
            </a:r>
            <a:endParaRPr sz="2500" dirty="0"/>
          </a:p>
        </p:txBody>
      </p:sp>
      <p:sp>
        <p:nvSpPr>
          <p:cNvPr id="17" name="Google Shape;205;p27">
            <a:extLst>
              <a:ext uri="{FF2B5EF4-FFF2-40B4-BE49-F238E27FC236}">
                <a16:creationId xmlns:a16="http://schemas.microsoft.com/office/drawing/2014/main" id="{322E2BB0-58DB-2F39-6F18-24FABE3A09C6}"/>
              </a:ext>
            </a:extLst>
          </p:cNvPr>
          <p:cNvSpPr txBox="1"/>
          <p:nvPr/>
        </p:nvSpPr>
        <p:spPr>
          <a:xfrm>
            <a:off x="529388" y="3464674"/>
            <a:ext cx="34093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Types of Widgets:</a:t>
            </a:r>
            <a:endParaRPr sz="3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8" name="Google Shape;204;p27">
            <a:extLst>
              <a:ext uri="{FF2B5EF4-FFF2-40B4-BE49-F238E27FC236}">
                <a16:creationId xmlns:a16="http://schemas.microsoft.com/office/drawing/2014/main" id="{A200EB6A-05D4-B138-9CE7-2B42B1456F19}"/>
              </a:ext>
            </a:extLst>
          </p:cNvPr>
          <p:cNvSpPr txBox="1"/>
          <p:nvPr/>
        </p:nvSpPr>
        <p:spPr>
          <a:xfrm>
            <a:off x="100617" y="4056290"/>
            <a:ext cx="357073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1" indent="-342900" algn="ctr">
              <a:buFont typeface="Arial" panose="020B0604020202020204" pitchFamily="34" charset="0"/>
              <a:buChar char="•"/>
            </a:pPr>
            <a:r>
              <a:rPr lang="en" sz="25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Stateless Widget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" sz="25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Statful Widget</a:t>
            </a:r>
            <a:endParaRPr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1670148-1832-183E-0DCC-FD8FADDF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0ED0CC13-8E89-4B74-FF62-E755F76E8247}"/>
              </a:ext>
            </a:extLst>
          </p:cNvPr>
          <p:cNvSpPr txBox="1"/>
          <p:nvPr/>
        </p:nvSpPr>
        <p:spPr>
          <a:xfrm>
            <a:off x="-213786" y="42187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Stateless Widget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088E964-8E9C-D1DF-3959-AD3677987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2E12D5-05D8-BF72-71B2-DC1BAA274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108" y="682983"/>
            <a:ext cx="4558249" cy="4460517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040C61F9-80B5-62C3-CEB8-2C549DC4210B}"/>
              </a:ext>
            </a:extLst>
          </p:cNvPr>
          <p:cNvSpPr txBox="1"/>
          <p:nvPr/>
        </p:nvSpPr>
        <p:spPr>
          <a:xfrm>
            <a:off x="68751" y="1777491"/>
            <a:ext cx="38432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Stateless widget is a widget which once built, it’s properties and state can’t be changed.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26747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E362C448-1B3D-466C-E35B-9F71FF56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C20295A5-D274-BD2A-3B57-D5DC8823124B}"/>
              </a:ext>
            </a:extLst>
          </p:cNvPr>
          <p:cNvSpPr txBox="1"/>
          <p:nvPr/>
        </p:nvSpPr>
        <p:spPr>
          <a:xfrm>
            <a:off x="-213786" y="42187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Stateful Widget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2A1C992-4976-6945-51CB-6DCD2D95A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FC46278E-664C-9DC6-D3E6-4AC88B42B646}"/>
              </a:ext>
            </a:extLst>
          </p:cNvPr>
          <p:cNvSpPr txBox="1"/>
          <p:nvPr/>
        </p:nvSpPr>
        <p:spPr>
          <a:xfrm>
            <a:off x="343759" y="1770616"/>
            <a:ext cx="384323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Stateful widget is a widget that can change state, it can updateand rebuild the appearance.</a:t>
            </a:r>
            <a:endParaRPr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0A692A-BD18-966A-0B12-97CB3B7BE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742" y="683924"/>
            <a:ext cx="4097613" cy="43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2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>
          <a:extLst>
            <a:ext uri="{FF2B5EF4-FFF2-40B4-BE49-F238E27FC236}">
              <a16:creationId xmlns:a16="http://schemas.microsoft.com/office/drawing/2014/main" id="{CED1CE03-0DA9-0B5B-EDD2-8C928B8E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>
            <a:extLst>
              <a:ext uri="{FF2B5EF4-FFF2-40B4-BE49-F238E27FC236}">
                <a16:creationId xmlns:a16="http://schemas.microsoft.com/office/drawing/2014/main" id="{2ED787A4-9F86-951A-1836-7AA79AC26E28}"/>
              </a:ext>
            </a:extLst>
          </p:cNvPr>
          <p:cNvSpPr txBox="1"/>
          <p:nvPr/>
        </p:nvSpPr>
        <p:spPr>
          <a:xfrm>
            <a:off x="727526" y="0"/>
            <a:ext cx="70722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Widget Tree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E9EA5B1-342D-7861-C5FB-346F0DFAC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AutoShape 2" descr="Layout_Tree">
            <a:extLst>
              <a:ext uri="{FF2B5EF4-FFF2-40B4-BE49-F238E27FC236}">
                <a16:creationId xmlns:a16="http://schemas.microsoft.com/office/drawing/2014/main" id="{1C95C9E0-16FB-6640-0E30-20A6E0ABA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16099" y="779054"/>
            <a:ext cx="5246764" cy="436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diagram of a application&#10;&#10;AI-generated content may be incorrect.">
            <a:extLst>
              <a:ext uri="{FF2B5EF4-FFF2-40B4-BE49-F238E27FC236}">
                <a16:creationId xmlns:a16="http://schemas.microsoft.com/office/drawing/2014/main" id="{26A5DB65-6359-7634-049C-E959C5E3C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672" y="779054"/>
            <a:ext cx="5249986" cy="436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8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/>
        </p:nvSpPr>
        <p:spPr>
          <a:xfrm>
            <a:off x="408560" y="104951"/>
            <a:ext cx="81153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Material App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166A153-E86D-D507-C188-1D9C0491E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457A8E-5164-CDA9-41C0-D665B637F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870" y="818147"/>
            <a:ext cx="4164990" cy="4325353"/>
          </a:xfrm>
          <a:prstGeom prst="rect">
            <a:avLst/>
          </a:prstGeom>
        </p:spPr>
      </p:pic>
      <p:sp>
        <p:nvSpPr>
          <p:cNvPr id="4" name="Google Shape;204;p27">
            <a:extLst>
              <a:ext uri="{FF2B5EF4-FFF2-40B4-BE49-F238E27FC236}">
                <a16:creationId xmlns:a16="http://schemas.microsoft.com/office/drawing/2014/main" id="{867F86E2-3464-F9C9-E8AD-83A9B31D54C2}"/>
              </a:ext>
            </a:extLst>
          </p:cNvPr>
          <p:cNvSpPr txBox="1"/>
          <p:nvPr/>
        </p:nvSpPr>
        <p:spPr>
          <a:xfrm>
            <a:off x="110004" y="1749717"/>
            <a:ext cx="4076986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The MaterailApp is a predefined class or widget in flutter.</a:t>
            </a:r>
          </a:p>
          <a:p>
            <a:pPr lvl="1" algn="ctr"/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It provides a wrapper around other widgets.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4AE3FB51-82D6-3597-8224-FA234CE9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8E0EC10C-9BE4-F49F-061F-BAA6935B1D23}"/>
              </a:ext>
            </a:extLst>
          </p:cNvPr>
          <p:cNvSpPr txBox="1"/>
          <p:nvPr/>
        </p:nvSpPr>
        <p:spPr>
          <a:xfrm>
            <a:off x="219931" y="0"/>
            <a:ext cx="81153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Scaffold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>
            <a:extLst>
              <a:ext uri="{FF2B5EF4-FFF2-40B4-BE49-F238E27FC236}">
                <a16:creationId xmlns:a16="http://schemas.microsoft.com/office/drawing/2014/main" id="{EF664761-BC88-91FF-3FA8-0F047E8B1127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4C8B938-1ADB-DCF8-B74B-2D96CD8BE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4" name="Google Shape;204;p27">
            <a:extLst>
              <a:ext uri="{FF2B5EF4-FFF2-40B4-BE49-F238E27FC236}">
                <a16:creationId xmlns:a16="http://schemas.microsoft.com/office/drawing/2014/main" id="{D851E56E-CD24-E5B3-3DDB-C555E1FCDB51}"/>
              </a:ext>
            </a:extLst>
          </p:cNvPr>
          <p:cNvSpPr txBox="1"/>
          <p:nvPr/>
        </p:nvSpPr>
        <p:spPr>
          <a:xfrm>
            <a:off x="110004" y="1749717"/>
            <a:ext cx="3568221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The Scaffold is a class that provides amny widgets.</a:t>
            </a:r>
          </a:p>
          <a:p>
            <a:pPr lvl="1" algn="ctr"/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The Scaffold will occupy the whole available screen.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B7B63-B44A-57B6-B631-851F86573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8225" y="611892"/>
            <a:ext cx="4847075" cy="453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45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478EAE69-CDF9-9F4D-A20F-3FFB99E0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90D0C642-4566-F681-1538-7AED38DFF3F6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AppBar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8FF2001-A10D-AA18-35F0-2BB31F2D5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1E55EAEF-6782-70AE-C8A6-F8253D836906}"/>
              </a:ext>
            </a:extLst>
          </p:cNvPr>
          <p:cNvSpPr txBox="1"/>
          <p:nvPr/>
        </p:nvSpPr>
        <p:spPr>
          <a:xfrm>
            <a:off x="137506" y="1316804"/>
            <a:ext cx="3815726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It’s the topmost component in the app.</a:t>
            </a:r>
          </a:p>
          <a:p>
            <a:pPr lvl="1" algn="ctr"/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title puts the given widget in the center of the empty app bar.</a:t>
            </a:r>
          </a:p>
          <a:p>
            <a:pPr lvl="1" algn="ctr"/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nd the leading puts the widget in the left most spot in the app bar.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BF9911-259F-7A80-922E-DBB339952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736" y="797523"/>
            <a:ext cx="4441371" cy="434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9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B25FBD73-6FFC-816F-C50B-511274CC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0EC18FAA-9C98-10E7-72AA-C21F16F3A073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Text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EBE86B6-DC85-055E-DAA4-877511AED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0C5D77-FFD3-530E-5404-FB59815B9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996" y="756271"/>
            <a:ext cx="4447653" cy="4387229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4A8918D2-F183-213B-5F73-9A2BCEE7521C}"/>
              </a:ext>
            </a:extLst>
          </p:cNvPr>
          <p:cNvSpPr txBox="1"/>
          <p:nvPr/>
        </p:nvSpPr>
        <p:spPr>
          <a:xfrm>
            <a:off x="268134" y="1956197"/>
            <a:ext cx="3568221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To display a text in the app.</a:t>
            </a:r>
          </a:p>
          <a:p>
            <a:pPr lvl="1" algn="ctr"/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ou c</a:t>
            </a:r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 change the text’s color, size, weight using TextStyle().</a:t>
            </a:r>
          </a:p>
        </p:txBody>
      </p:sp>
    </p:spTree>
    <p:extLst>
      <p:ext uri="{BB962C8B-B14F-4D97-AF65-F5344CB8AC3E}">
        <p14:creationId xmlns:p14="http://schemas.microsoft.com/office/powerpoint/2010/main" val="395879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90DB34D-8752-3FFB-2BBB-B68E4732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6C0E5DEC-1431-FAC3-CE26-CEE5EA7E140B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Icon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803F0AC4-8D4E-2CA2-3D68-D60D40DCA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6CC571D9-4628-2C38-936F-4DCCB9C7EB5D}"/>
              </a:ext>
            </a:extLst>
          </p:cNvPr>
          <p:cNvSpPr txBox="1"/>
          <p:nvPr/>
        </p:nvSpPr>
        <p:spPr>
          <a:xfrm>
            <a:off x="268134" y="1956197"/>
            <a:ext cx="35682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It displays an icon, you can change its color, size and weight. </a:t>
            </a:r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C5EB91-1983-4A9C-23D6-B2ABF1589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609" y="708144"/>
            <a:ext cx="4516999" cy="397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47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5A7F511-93CB-CAD8-AF2E-D6FC5516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62E510CC-B7ED-C3DA-A111-6D16DD8A2178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Center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770EA1F8-7FEA-665D-D1A2-DF60BFD06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A8EE27-49C9-10F5-FB04-746EDBC85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996" y="756271"/>
            <a:ext cx="4447653" cy="4387229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53F77A1F-D0EC-98D8-2885-2BEE414BA406}"/>
              </a:ext>
            </a:extLst>
          </p:cNvPr>
          <p:cNvSpPr txBox="1"/>
          <p:nvPr/>
        </p:nvSpPr>
        <p:spPr>
          <a:xfrm>
            <a:off x="268134" y="1956197"/>
            <a:ext cx="35682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The Center widgets aligns its child widget in the center of the empty screen.</a:t>
            </a:r>
          </a:p>
        </p:txBody>
      </p:sp>
    </p:spTree>
    <p:extLst>
      <p:ext uri="{BB962C8B-B14F-4D97-AF65-F5344CB8AC3E}">
        <p14:creationId xmlns:p14="http://schemas.microsoft.com/office/powerpoint/2010/main" val="1453474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43908D7-B41B-F028-7158-4470EAA8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38DBF2A0-71FC-4103-EEB2-F000340AE29C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Container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B2875E22-DF21-77D1-523B-081380CCC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12202471-C673-F485-BCB1-4B3FFB4ECDC1}"/>
              </a:ext>
            </a:extLst>
          </p:cNvPr>
          <p:cNvSpPr txBox="1"/>
          <p:nvPr/>
        </p:nvSpPr>
        <p:spPr>
          <a:xfrm>
            <a:off x="268134" y="1956197"/>
            <a:ext cx="35682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convenience widget that combines common painting, posioning, and sizing widgets.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B0E30-4222-88E5-90DD-5E3346D06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983" y="681925"/>
            <a:ext cx="4592626" cy="446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12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7A32F4C7-5A4F-C9F7-89ED-C55BCA7A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FD841064-EEC6-EDBC-B74F-3BDFF76D737C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Container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10D155E-6B92-821B-4DBD-860A51B18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C4A7E3C3-6E5E-9B36-B032-E9A00857BE4F}"/>
              </a:ext>
            </a:extLst>
          </p:cNvPr>
          <p:cNvSpPr txBox="1"/>
          <p:nvPr/>
        </p:nvSpPr>
        <p:spPr>
          <a:xfrm>
            <a:off x="268134" y="1956197"/>
            <a:ext cx="35682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convenience widget that combines common painting, posioning, and sizing widgets.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DBA3F-5C3A-C4A4-4220-69C40D6C4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983" y="681925"/>
            <a:ext cx="4592626" cy="446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30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A7BCDD29-0A2B-C410-4A14-B00BB9A9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9FDF93D5-F375-961A-08CB-66E251530725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Columns &amp; Rows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40C7A572-C55F-E932-E79C-1B80C95DE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17F5A42B-36CC-BDEB-A265-8698EED05223}"/>
              </a:ext>
            </a:extLst>
          </p:cNvPr>
          <p:cNvSpPr txBox="1"/>
          <p:nvPr/>
        </p:nvSpPr>
        <p:spPr>
          <a:xfrm>
            <a:off x="268134" y="1956197"/>
            <a:ext cx="3568221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he column takes childern widgets and alings them virtically, while the row alings them horizontally.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8227F2-1B20-4506-E801-520DFAA62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110" y="668724"/>
            <a:ext cx="4489498" cy="442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2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2F660543-0D4C-B1E0-54A7-4FE01321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E9602748-2B66-73AD-7B5E-A2761297F726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Sized Box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4F9EFC2-E240-2E0C-297F-AF304417C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1CAF7104-9A2E-6BF5-2F68-C49EA32564A5}"/>
              </a:ext>
            </a:extLst>
          </p:cNvPr>
          <p:cNvSpPr txBox="1"/>
          <p:nvPr/>
        </p:nvSpPr>
        <p:spPr>
          <a:xfrm>
            <a:off x="268134" y="1956197"/>
            <a:ext cx="3568221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It’s a widget that takes either a height, a width or both, its purpose is to give some space between widgets.</a:t>
            </a:r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69678F-550B-8720-CF76-80C83CB85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844" y="749396"/>
            <a:ext cx="4483645" cy="433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43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5120760-32ED-152B-FBA8-AA989FE6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56150148-2613-4C8B-AD17-CD9554AB15B9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A6748B2F-93EE-B155-87F4-DE607CB03586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>
            <a:extLst>
              <a:ext uri="{FF2B5EF4-FFF2-40B4-BE49-F238E27FC236}">
                <a16:creationId xmlns:a16="http://schemas.microsoft.com/office/drawing/2014/main" id="{E15F430B-F0D7-0EA8-A799-EA617F6AA841}"/>
              </a:ext>
            </a:extLst>
          </p:cNvPr>
          <p:cNvSpPr txBox="1"/>
          <p:nvPr/>
        </p:nvSpPr>
        <p:spPr>
          <a:xfrm>
            <a:off x="73644" y="2189522"/>
            <a:ext cx="374216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Hands on</a:t>
            </a:r>
            <a:endParaRPr sz="5000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02478F4-B134-E158-AAB3-F9AEBA579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E0B0D2-21BC-EBEC-AA7F-6CA0236D73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0175" y="0"/>
            <a:ext cx="33124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70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E38B2153-F69E-B9CA-195A-37FD158F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3E533669-DB3B-1B5E-CF54-1011BD2C2274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FloatingActionButton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062F94E-B865-961F-B5BF-4C9CC2E8A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E80CA7E1-A5FE-D431-6A04-99886DD6CC50}"/>
              </a:ext>
            </a:extLst>
          </p:cNvPr>
          <p:cNvSpPr txBox="1"/>
          <p:nvPr/>
        </p:nvSpPr>
        <p:spPr>
          <a:xfrm>
            <a:off x="268134" y="1956197"/>
            <a:ext cx="356822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It’s a circular icon button that hovers over the screen.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8CB28-BC09-A27F-2C4A-D0A24664A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267" y="620732"/>
            <a:ext cx="4393715" cy="452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15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B8972AA7-B7BE-D251-51E4-F79B8932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4D52DCEC-2967-5BA1-C1EB-920917C6D191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ElevatedButton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ED1A27D0-E667-3A06-FC12-0EB693F59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C7873C18-B0F9-26C4-62AD-008AAF1295B2}"/>
              </a:ext>
            </a:extLst>
          </p:cNvPr>
          <p:cNvSpPr txBox="1"/>
          <p:nvPr/>
        </p:nvSpPr>
        <p:spPr>
          <a:xfrm>
            <a:off x="268134" y="1956197"/>
            <a:ext cx="35682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One of the buttons widget in flutter, it has a slight elevation look towards the screen.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8353D6-FABA-30E5-ECE4-1A2969E89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866" y="914400"/>
            <a:ext cx="4235116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52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3CB2292-8AD5-46B6-0984-3314C432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8F5E5A2C-E421-E02D-B192-9E9AD66F184A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ElevatedButton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674F2604-A44B-F4D4-CE9F-E163C74E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A62172B9-E130-F93F-C5A8-F30B63A607C0}"/>
              </a:ext>
            </a:extLst>
          </p:cNvPr>
          <p:cNvSpPr txBox="1"/>
          <p:nvPr/>
        </p:nvSpPr>
        <p:spPr>
          <a:xfrm>
            <a:off x="268134" y="1956197"/>
            <a:ext cx="35682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One of the buttons widget in flutter, it has a slight elevation look towards the screen.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526F0-0A44-3EF1-EA27-5F1D4C310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866" y="914400"/>
            <a:ext cx="4235116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9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628D935F-61B9-223F-2103-9939197F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64410EFF-65B9-1076-3F16-38CE71BB5B08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Image.network</a:t>
            </a:r>
            <a:endParaRPr lang="en-US"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A6712FE-E447-4155-DD40-15FBC329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E6E56983-B80F-2552-D656-5BD534ABAF2E}"/>
              </a:ext>
            </a:extLst>
          </p:cNvPr>
          <p:cNvSpPr txBox="1"/>
          <p:nvPr/>
        </p:nvSpPr>
        <p:spPr>
          <a:xfrm>
            <a:off x="268134" y="1956197"/>
            <a:ext cx="35682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widget that displays images from the internet, you give it the image URL.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53C54-9F32-D089-573F-9FD04B83B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869" y="811272"/>
            <a:ext cx="4173239" cy="433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17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6C79328B-BB12-3305-7A67-543C487E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B60D5BEA-695F-DF48-C15B-9F66EC0AA2B3}"/>
              </a:ext>
            </a:extLst>
          </p:cNvPr>
          <p:cNvSpPr txBox="1"/>
          <p:nvPr/>
        </p:nvSpPr>
        <p:spPr>
          <a:xfrm>
            <a:off x="1530986" y="243706"/>
            <a:ext cx="5579218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0" i="0" u="none" strike="noStrike" cap="none" dirty="0" err="1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Image.</a:t>
            </a:r>
            <a:r>
              <a:rPr lang="en-US" sz="3500" dirty="0" err="1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asset</a:t>
            </a:r>
            <a:endParaRPr lang="en-US"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4" name="Picture 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59EEA6E-058E-422A-9493-1F31BB528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6" name="Google Shape;204;p27">
            <a:extLst>
              <a:ext uri="{FF2B5EF4-FFF2-40B4-BE49-F238E27FC236}">
                <a16:creationId xmlns:a16="http://schemas.microsoft.com/office/drawing/2014/main" id="{6312A985-EB55-B502-7D82-CE5715609D00}"/>
              </a:ext>
            </a:extLst>
          </p:cNvPr>
          <p:cNvSpPr txBox="1"/>
          <p:nvPr/>
        </p:nvSpPr>
        <p:spPr>
          <a:xfrm>
            <a:off x="268134" y="1956197"/>
            <a:ext cx="35682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widget that displays an image from your assets (on your computer).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22C83-3147-BC99-A16B-119132CA4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484" y="874788"/>
            <a:ext cx="5149516" cy="352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37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/>
        </p:nvSpPr>
        <p:spPr>
          <a:xfrm>
            <a:off x="1864536" y="1685925"/>
            <a:ext cx="541492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b="0" i="0" u="none" strike="noStrike" cap="none">
                <a:solidFill>
                  <a:srgbClr val="FF9FEC"/>
                </a:solidFill>
                <a:latin typeface="Satisfy"/>
                <a:ea typeface="Satisfy"/>
                <a:cs typeface="Satisfy"/>
                <a:sym typeface="Satisfy"/>
              </a:rPr>
              <a:t>Thank you!</a:t>
            </a:r>
            <a:endParaRPr sz="700"/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B39B16-6F25-5CC7-546A-86E06719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24EAE4"/>
      </a:dk1>
      <a:lt1>
        <a:srgbClr val="20124D"/>
      </a:lt1>
      <a:dk2>
        <a:srgbClr val="FFFDFC"/>
      </a:dk2>
      <a:lt2>
        <a:srgbClr val="674EA7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398</Words>
  <Application>Microsoft Office PowerPoint</Application>
  <PresentationFormat>On-screen Show (16:9)</PresentationFormat>
  <Paragraphs>54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Lato</vt:lpstr>
      <vt:lpstr>Lato Black</vt:lpstr>
      <vt:lpstr>Calibri</vt:lpstr>
      <vt:lpstr>Satisfy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Tasneem El-Rashidy</cp:lastModifiedBy>
  <cp:revision>3</cp:revision>
  <dcterms:modified xsi:type="dcterms:W3CDTF">2025-11-13T06:07:09Z</dcterms:modified>
</cp:coreProperties>
</file>