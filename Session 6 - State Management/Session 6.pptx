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25"/>
  </p:notesMasterIdLst>
  <p:sldIdLst>
    <p:sldId id="256" r:id="rId3"/>
    <p:sldId id="259" r:id="rId4"/>
    <p:sldId id="260" r:id="rId5"/>
    <p:sldId id="274" r:id="rId6"/>
    <p:sldId id="275" r:id="rId7"/>
    <p:sldId id="291" r:id="rId8"/>
    <p:sldId id="276" r:id="rId9"/>
    <p:sldId id="292" r:id="rId10"/>
    <p:sldId id="293" r:id="rId11"/>
    <p:sldId id="263" r:id="rId12"/>
    <p:sldId id="264" r:id="rId13"/>
    <p:sldId id="294" r:id="rId14"/>
    <p:sldId id="267" r:id="rId15"/>
    <p:sldId id="268" r:id="rId16"/>
    <p:sldId id="288" r:id="rId17"/>
    <p:sldId id="289" r:id="rId18"/>
    <p:sldId id="290" r:id="rId19"/>
    <p:sldId id="296" r:id="rId20"/>
    <p:sldId id="297" r:id="rId21"/>
    <p:sldId id="298" r:id="rId22"/>
    <p:sldId id="284" r:id="rId23"/>
    <p:sldId id="271" r:id="rId24"/>
  </p:sldIdLst>
  <p:sldSz cx="9144000" cy="5143500" type="screen16x9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Lato Black" panose="020F0502020204030203" pitchFamily="34" charset="0"/>
      <p:bold r:id="rId30"/>
      <p:boldItalic r:id="rId31"/>
    </p:embeddedFont>
    <p:embeddedFont>
      <p:font typeface="Satisfy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6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DC2C09F2-5B16-6B8E-6BF8-555A7CF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>
            <a:extLst>
              <a:ext uri="{FF2B5EF4-FFF2-40B4-BE49-F238E27FC236}">
                <a16:creationId xmlns:a16="http://schemas.microsoft.com/office/drawing/2014/main" id="{3FB6BD6A-6377-FFB0-0FBD-DF1EB0F5B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>
            <a:extLst>
              <a:ext uri="{FF2B5EF4-FFF2-40B4-BE49-F238E27FC236}">
                <a16:creationId xmlns:a16="http://schemas.microsoft.com/office/drawing/2014/main" id="{4463DC4F-BFBB-C309-D55C-6C7449CF6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1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D535D53-E47A-D84E-DDFD-76F7D8BF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6313465-7627-FB93-C048-9A4472BC8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1793C3E6-A70F-ED9C-AC7F-B42B56C46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00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E7A0B31A-C995-043B-952A-07CBAE0F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ED919872-A40A-473A-4D0F-B77D5EB85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6949DE64-5BEE-2391-D0C5-4556A03321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45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01C4226C-C1B2-8364-DDB4-CC505322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>
            <a:extLst>
              <a:ext uri="{FF2B5EF4-FFF2-40B4-BE49-F238E27FC236}">
                <a16:creationId xmlns:a16="http://schemas.microsoft.com/office/drawing/2014/main" id="{159C1F9B-E2FC-C76B-8627-587759363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>
            <a:extLst>
              <a:ext uri="{FF2B5EF4-FFF2-40B4-BE49-F238E27FC236}">
                <a16:creationId xmlns:a16="http://schemas.microsoft.com/office/drawing/2014/main" id="{B4D708BB-3690-29F2-31E1-95C30FFD6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96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2D1C2AD1-9B11-ADE6-43D0-09351396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CAEF57BF-7F0C-54F2-568F-2161404340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42D67821-4B0F-26CE-3BB9-EBD1BAB35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30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7E6CDF2D-1BFC-203D-C4DC-1AAA90E6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6D684FF5-8BB1-E515-C4E0-8F9F3C5A41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41EAAA04-BC8F-E47D-F524-4E2F1DCEF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04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55716ace1_2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2455716ace1_2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E6D0A980-7812-A397-58C8-2855B2A4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C104BE46-BE03-3302-D1CC-461423AF8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3AC6239A-7220-AB02-4D49-FF45428CA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00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455716ace1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2455716ace1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6F48607-1960-7485-A51D-4DA1A44C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79112447-35A6-CD85-C885-F5EA06FFF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40E84458-93B2-387C-A927-2B22CBF18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06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DB7A2B38-A036-5147-8F22-E7D9BC1A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2D0E39B0-476E-21DD-1D79-9BF5591B7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B04DD1DA-2DA0-AB8A-0448-A7708F7B5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04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49315C26-6C7B-1914-FA5E-7088EFA6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40DB4AE3-92E6-9AAC-10F8-CE5A16337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C906D54D-2BD7-2F61-556E-F2037DFC9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91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7A59F4F6-8613-0997-6808-23FCF0AE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641D0768-B88A-C12E-248B-EB21855A2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2C990775-241F-9E1C-60E6-642DD7F82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0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3ABF5B5-64E0-8937-86E0-E3A7F163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E29CB97B-370F-65F6-3368-2D91C0A7F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ECFF7FA6-40BF-8B11-B0F7-63111F984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41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C7F44CF9-5329-B7CB-A06E-740A6D17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39CB34DF-9BC4-7A20-224F-DBB426DFD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1168D9FF-83FB-D5C7-8CC7-15B34395D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52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1D5E027-6A5F-A7F0-CCE8-751FC6A3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1425CB39-7144-A542-2788-633BA9C76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BCDE41BD-B8B0-C77A-688E-F5E95B31C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2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55716ace1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55716ace1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rot="2002332">
            <a:off x="5424541" y="4086766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3"/>
                </a:lnTo>
                <a:lnTo>
                  <a:pt x="0" y="1650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oogle Shape;14;p2"/>
          <p:cNvSpPr/>
          <p:nvPr/>
        </p:nvSpPr>
        <p:spPr>
          <a:xfrm>
            <a:off x="73819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2"/>
          <p:cNvSpPr/>
          <p:nvPr/>
        </p:nvSpPr>
        <p:spPr>
          <a:xfrm>
            <a:off x="5917804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oogle Shape;16;p2"/>
          <p:cNvSpPr/>
          <p:nvPr/>
        </p:nvSpPr>
        <p:spPr>
          <a:xfrm>
            <a:off x="591780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2"/>
          <p:cNvSpPr/>
          <p:nvPr/>
        </p:nvSpPr>
        <p:spPr>
          <a:xfrm>
            <a:off x="267123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2"/>
          <p:cNvSpPr/>
          <p:nvPr/>
        </p:nvSpPr>
        <p:spPr>
          <a:xfrm>
            <a:off x="73819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Google Shape;19;p2"/>
          <p:cNvSpPr/>
          <p:nvPr/>
        </p:nvSpPr>
        <p:spPr>
          <a:xfrm rot="5400000">
            <a:off x="6450462" y="2559289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Google Shape;20;p2"/>
          <p:cNvSpPr/>
          <p:nvPr/>
        </p:nvSpPr>
        <p:spPr>
          <a:xfrm rot="5400000">
            <a:off x="-1993869" y="2564052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95812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3"/>
          <p:cNvSpPr/>
          <p:nvPr/>
        </p:nvSpPr>
        <p:spPr>
          <a:xfrm>
            <a:off x="2995812" y="475275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oogle Shape;26;p3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Google Shape;27;p3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516626" y="2625048"/>
            <a:ext cx="2222534" cy="2518452"/>
          </a:xfrm>
          <a:custGeom>
            <a:avLst/>
            <a:gdLst/>
            <a:ahLst/>
            <a:cxnLst/>
            <a:rect l="l" t="t" r="r" b="b"/>
            <a:pathLst>
              <a:path w="4445067" h="5036904" extrusionOk="0">
                <a:moveTo>
                  <a:pt x="0" y="0"/>
                </a:moveTo>
                <a:lnTo>
                  <a:pt x="4445067" y="0"/>
                </a:lnTo>
                <a:lnTo>
                  <a:pt x="4445067" y="5036904"/>
                </a:lnTo>
                <a:lnTo>
                  <a:pt x="0" y="503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Google Shape;39;p5"/>
          <p:cNvSpPr/>
          <p:nvPr/>
        </p:nvSpPr>
        <p:spPr>
          <a:xfrm>
            <a:off x="564344" y="3086100"/>
            <a:ext cx="1635633" cy="2057400"/>
          </a:xfrm>
          <a:custGeom>
            <a:avLst/>
            <a:gdLst/>
            <a:ahLst/>
            <a:cxnLst/>
            <a:rect l="l" t="t" r="r" b="b"/>
            <a:pathLst>
              <a:path w="3271266" h="4114800" extrusionOk="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Google Shape;44;p6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Google Shape;45;p6"/>
          <p:cNvSpPr/>
          <p:nvPr/>
        </p:nvSpPr>
        <p:spPr>
          <a:xfrm>
            <a:off x="8083819" y="3389255"/>
            <a:ext cx="1350734" cy="1349045"/>
          </a:xfrm>
          <a:custGeom>
            <a:avLst/>
            <a:gdLst/>
            <a:ahLst/>
            <a:cxnLst/>
            <a:rect l="l" t="t" r="r" b="b"/>
            <a:pathLst>
              <a:path w="2701467" h="2698090" extrusionOk="0">
                <a:moveTo>
                  <a:pt x="0" y="0"/>
                </a:moveTo>
                <a:lnTo>
                  <a:pt x="2701467" y="0"/>
                </a:lnTo>
                <a:lnTo>
                  <a:pt x="2701467" y="2698090"/>
                </a:lnTo>
                <a:lnTo>
                  <a:pt x="0" y="269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Google Shape;46;p6"/>
          <p:cNvSpPr/>
          <p:nvPr/>
        </p:nvSpPr>
        <p:spPr>
          <a:xfrm rot="2002332">
            <a:off x="3959050" y="41335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6"/>
          <p:cNvSpPr/>
          <p:nvPr/>
        </p:nvSpPr>
        <p:spPr>
          <a:xfrm>
            <a:off x="306139" y="23488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460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rot="-1739939">
            <a:off x="864005" y="72122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Google Shape;52;p7"/>
          <p:cNvSpPr/>
          <p:nvPr/>
        </p:nvSpPr>
        <p:spPr>
          <a:xfrm rot="2002332">
            <a:off x="7661750" y="3722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7"/>
          <p:cNvSpPr/>
          <p:nvPr/>
        </p:nvSpPr>
        <p:spPr>
          <a:xfrm>
            <a:off x="4421614" y="39485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4310698" y="2715473"/>
            <a:ext cx="2372962" cy="2424482"/>
          </a:xfrm>
          <a:custGeom>
            <a:avLst/>
            <a:gdLst/>
            <a:ahLst/>
            <a:cxnLst/>
            <a:rect l="l" t="t" r="r" b="b"/>
            <a:pathLst>
              <a:path w="5616478" h="5738420" extrusionOk="0">
                <a:moveTo>
                  <a:pt x="0" y="0"/>
                </a:moveTo>
                <a:lnTo>
                  <a:pt x="5616478" y="0"/>
                </a:lnTo>
                <a:lnTo>
                  <a:pt x="5616478" y="5738420"/>
                </a:lnTo>
                <a:lnTo>
                  <a:pt x="0" y="5738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Google Shape;61;p8"/>
          <p:cNvSpPr/>
          <p:nvPr/>
        </p:nvSpPr>
        <p:spPr>
          <a:xfrm>
            <a:off x="8127774" y="350879"/>
            <a:ext cx="873766" cy="1013063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76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72497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tisfy"/>
              <a:buNone/>
              <a:defRPr sz="2800">
                <a:solidFill>
                  <a:schemeClr val="dk1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atisfy"/>
              <a:buChar char="●"/>
              <a:defRPr sz="1800">
                <a:solidFill>
                  <a:schemeClr val="dk2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e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/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/>
          <p:cNvSpPr txBox="1"/>
          <p:nvPr/>
        </p:nvSpPr>
        <p:spPr>
          <a:xfrm>
            <a:off x="514350" y="1734910"/>
            <a:ext cx="826864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State Management</a:t>
            </a:r>
            <a:endParaRPr sz="72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8A728-C23D-22E6-556E-A75BB394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/>
        </p:nvSpPr>
        <p:spPr>
          <a:xfrm>
            <a:off x="1707337" y="2112778"/>
            <a:ext cx="70722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Intro to </a:t>
            </a:r>
            <a:r>
              <a:rPr lang="en" sz="4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State Management</a:t>
            </a:r>
            <a:endParaRPr sz="4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833446" y="2115168"/>
            <a:ext cx="7117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1.</a:t>
            </a:r>
            <a:endParaRPr sz="4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BA8C61B-41A7-19ED-FDE1-958F92BF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/>
        </p:nvSpPr>
        <p:spPr>
          <a:xfrm>
            <a:off x="803948" y="2571750"/>
            <a:ext cx="737109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he state of an app is everything that exists in memory while the app is running.</a:t>
            </a:r>
            <a:endParaRPr sz="2800" dirty="0"/>
          </a:p>
        </p:txBody>
      </p:sp>
      <p:sp>
        <p:nvSpPr>
          <p:cNvPr id="205" name="Google Shape;205;p27"/>
          <p:cNvSpPr txBox="1"/>
          <p:nvPr/>
        </p:nvSpPr>
        <p:spPr>
          <a:xfrm>
            <a:off x="214989" y="866269"/>
            <a:ext cx="854901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What is a state?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104E588-414D-9E89-50E7-CFB985C1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CED1CE03-0DA9-0B5B-EDD2-8C928B8E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>
            <a:extLst>
              <a:ext uri="{FF2B5EF4-FFF2-40B4-BE49-F238E27FC236}">
                <a16:creationId xmlns:a16="http://schemas.microsoft.com/office/drawing/2014/main" id="{2ED787A4-9F86-951A-1836-7AA79AC26E28}"/>
              </a:ext>
            </a:extLst>
          </p:cNvPr>
          <p:cNvSpPr txBox="1"/>
          <p:nvPr/>
        </p:nvSpPr>
        <p:spPr>
          <a:xfrm>
            <a:off x="1035861" y="2099028"/>
            <a:ext cx="707227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Types of states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E9EA5B1-342D-7861-C5FB-346F0DFA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8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1670148-1832-183E-0DCC-FD8FADD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>
            <a:extLst>
              <a:ext uri="{FF2B5EF4-FFF2-40B4-BE49-F238E27FC236}">
                <a16:creationId xmlns:a16="http://schemas.microsoft.com/office/drawing/2014/main" id="{3174DB58-1869-DB73-519C-CA57B6C5C663}"/>
              </a:ext>
            </a:extLst>
          </p:cNvPr>
          <p:cNvSpPr txBox="1"/>
          <p:nvPr/>
        </p:nvSpPr>
        <p:spPr>
          <a:xfrm>
            <a:off x="972390" y="2140863"/>
            <a:ext cx="719921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Ephemeral state is a state you can nearly contain in a single widget.</a:t>
            </a:r>
            <a:endParaRPr sz="2800" dirty="0"/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0ED0CC13-8E89-4B74-FF62-E755F76E8247}"/>
              </a:ext>
            </a:extLst>
          </p:cNvPr>
          <p:cNvSpPr txBox="1"/>
          <p:nvPr/>
        </p:nvSpPr>
        <p:spPr>
          <a:xfrm>
            <a:off x="214989" y="866269"/>
            <a:ext cx="854901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Ephemeral State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088E964-8E9C-D1DF-3959-AD367798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1936514D-F95A-A46C-6C47-0A4A788920D4}"/>
              </a:ext>
            </a:extLst>
          </p:cNvPr>
          <p:cNvSpPr txBox="1"/>
          <p:nvPr/>
        </p:nvSpPr>
        <p:spPr>
          <a:xfrm>
            <a:off x="972389" y="3353901"/>
            <a:ext cx="719921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There is mostly no need to use state management techniques, Stateful widget would be enough.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747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BC75404A-035E-D299-F9B8-BC8E4DC9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>
            <a:extLst>
              <a:ext uri="{FF2B5EF4-FFF2-40B4-BE49-F238E27FC236}">
                <a16:creationId xmlns:a16="http://schemas.microsoft.com/office/drawing/2014/main" id="{30DAA894-9F54-054E-652B-A5BB4CE2D9F1}"/>
              </a:ext>
            </a:extLst>
          </p:cNvPr>
          <p:cNvSpPr txBox="1"/>
          <p:nvPr/>
        </p:nvSpPr>
        <p:spPr>
          <a:xfrm>
            <a:off x="972390" y="2372794"/>
            <a:ext cx="719921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App state is state that you need to share across many parts of your app and that you need to keep across user sessions.</a:t>
            </a:r>
            <a:endParaRPr sz="2800" dirty="0"/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479E4715-68BF-D85C-1074-3827844D7C4E}"/>
              </a:ext>
            </a:extLst>
          </p:cNvPr>
          <p:cNvSpPr txBox="1"/>
          <p:nvPr/>
        </p:nvSpPr>
        <p:spPr>
          <a:xfrm>
            <a:off x="214989" y="866269"/>
            <a:ext cx="854901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App State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BD8EE24B-644A-2B7B-971A-A7C672481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2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7C88529F-4DBE-4510-4F41-91953CC2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1A820B-454C-6805-434C-7CBE8D515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1026" name="Picture 2" descr="A flow chart. Start with 'Data'. 'Who needs it?'. Three options: 'Most widgets', 'Some widgets' and 'Single widget'. The first two options both lead to 'App state'. The 'Single widget' option leads to 'Ephemeral state'.">
            <a:extLst>
              <a:ext uri="{FF2B5EF4-FFF2-40B4-BE49-F238E27FC236}">
                <a16:creationId xmlns:a16="http://schemas.microsoft.com/office/drawing/2014/main" id="{D398249A-4762-EC64-2F99-2FFC9C531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5" y="385763"/>
            <a:ext cx="676275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860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C9B55CBF-2BEC-39BE-A767-864466CE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>
            <a:extLst>
              <a:ext uri="{FF2B5EF4-FFF2-40B4-BE49-F238E27FC236}">
                <a16:creationId xmlns:a16="http://schemas.microsoft.com/office/drawing/2014/main" id="{51FEDDAF-092C-C1F8-1ACB-458D3E381DCF}"/>
              </a:ext>
            </a:extLst>
          </p:cNvPr>
          <p:cNvSpPr txBox="1"/>
          <p:nvPr/>
        </p:nvSpPr>
        <p:spPr>
          <a:xfrm>
            <a:off x="803946" y="1299840"/>
            <a:ext cx="737109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State management refers to how data or state is handled within the flutter app.</a:t>
            </a:r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9D1E7614-8CBD-0FCE-2D50-00A5C056D9EB}"/>
              </a:ext>
            </a:extLst>
          </p:cNvPr>
          <p:cNvSpPr txBox="1"/>
          <p:nvPr/>
        </p:nvSpPr>
        <p:spPr>
          <a:xfrm>
            <a:off x="214987" y="309379"/>
            <a:ext cx="854901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What is a state management?</a:t>
            </a:r>
            <a:endParaRPr sz="48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242EE8D-5B6D-67F9-4AA1-86CE8DE99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46CB822E-7B28-42C5-3C8D-E3EEB6F822CF}"/>
              </a:ext>
            </a:extLst>
          </p:cNvPr>
          <p:cNvSpPr txBox="1"/>
          <p:nvPr/>
        </p:nvSpPr>
        <p:spPr>
          <a:xfrm>
            <a:off x="750091" y="2655398"/>
            <a:ext cx="737109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Proper state management ensures the UI updates are efficient, preventing unnecessary widget rebuilds and performance issues.</a:t>
            </a:r>
          </a:p>
        </p:txBody>
      </p:sp>
    </p:spTree>
    <p:extLst>
      <p:ext uri="{BB962C8B-B14F-4D97-AF65-F5344CB8AC3E}">
        <p14:creationId xmlns:p14="http://schemas.microsoft.com/office/powerpoint/2010/main" val="145613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71234416-A144-208F-849E-3A1D47F1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D8B472EC-1281-C39E-5A0F-1A0012B98A12}"/>
              </a:ext>
            </a:extLst>
          </p:cNvPr>
          <p:cNvSpPr txBox="1"/>
          <p:nvPr/>
        </p:nvSpPr>
        <p:spPr>
          <a:xfrm>
            <a:off x="214987" y="309379"/>
            <a:ext cx="854901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Popular state management approaches</a:t>
            </a:r>
            <a:endParaRPr sz="3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08B01E97-B359-7812-E4BE-645ED50EC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 descr="A diagram of a diagram">
            <a:extLst>
              <a:ext uri="{FF2B5EF4-FFF2-40B4-BE49-F238E27FC236}">
                <a16:creationId xmlns:a16="http://schemas.microsoft.com/office/drawing/2014/main" id="{15496388-E3BB-37D0-2F62-073FAF50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297" y="1187640"/>
            <a:ext cx="5554021" cy="351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/>
        </p:nvSpPr>
        <p:spPr>
          <a:xfrm>
            <a:off x="4184594" y="1807068"/>
            <a:ext cx="461110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79F2D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BLoC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3258064" y="1807068"/>
            <a:ext cx="71177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79F2D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2.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E2BAA72-523B-20F5-653F-ED7A02989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/>
        </p:nvSpPr>
        <p:spPr>
          <a:xfrm>
            <a:off x="312307" y="266744"/>
            <a:ext cx="8115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BLoC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166A153-E86D-D507-C188-1D9C0491E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54D1E54A-2171-7005-6CDC-DBA1799B1CFF}"/>
              </a:ext>
            </a:extLst>
          </p:cNvPr>
          <p:cNvSpPr txBox="1"/>
          <p:nvPr/>
        </p:nvSpPr>
        <p:spPr>
          <a:xfrm>
            <a:off x="964134" y="1998734"/>
            <a:ext cx="737109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BLoC (Business Logic Component) focuses on separating business logic from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9C726757-BA5D-5252-A5A3-328731C0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8732D71E-F725-8293-1CDE-451DFE7B3BB0}"/>
              </a:ext>
            </a:extLst>
          </p:cNvPr>
          <p:cNvSpPr txBox="1"/>
          <p:nvPr/>
        </p:nvSpPr>
        <p:spPr>
          <a:xfrm>
            <a:off x="312307" y="266744"/>
            <a:ext cx="8115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BLoC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>
            <a:extLst>
              <a:ext uri="{FF2B5EF4-FFF2-40B4-BE49-F238E27FC236}">
                <a16:creationId xmlns:a16="http://schemas.microsoft.com/office/drawing/2014/main" id="{A46AB388-5551-4DC6-B531-B6814C66165E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7F8D6EA-2182-97C3-A4A7-1636DA694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 descr="A hexagon with arrows and dots">
            <a:extLst>
              <a:ext uri="{FF2B5EF4-FFF2-40B4-BE49-F238E27FC236}">
                <a16:creationId xmlns:a16="http://schemas.microsoft.com/office/drawing/2014/main" id="{AE733C70-3C89-CDCA-879A-5008D332A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87480"/>
            <a:ext cx="9144000" cy="256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6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/>
        </p:nvSpPr>
        <p:spPr>
          <a:xfrm>
            <a:off x="3480616" y="1698206"/>
            <a:ext cx="68036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Cubit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94" name="Google Shape;294;p34"/>
          <p:cNvSpPr txBox="1"/>
          <p:nvPr/>
        </p:nvSpPr>
        <p:spPr>
          <a:xfrm>
            <a:off x="2490016" y="1698206"/>
            <a:ext cx="71177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3.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4247B44B-DE5F-BACF-CE65-80B4733E4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/>
        </p:nvSpPr>
        <p:spPr>
          <a:xfrm>
            <a:off x="1039002" y="506600"/>
            <a:ext cx="706599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Cubit state management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6" name="Picture 5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D2AEE-D4EE-EAC9-332A-7798C05B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CAC6E068-5F3A-5C06-555C-9135C930967D}"/>
              </a:ext>
            </a:extLst>
          </p:cNvPr>
          <p:cNvSpPr txBox="1"/>
          <p:nvPr/>
        </p:nvSpPr>
        <p:spPr>
          <a:xfrm>
            <a:off x="964133" y="1909356"/>
            <a:ext cx="737109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Cubit is a state management provided by BLoC, it’s like a lightweight BLoC.</a:t>
            </a:r>
          </a:p>
        </p:txBody>
      </p:sp>
      <p:sp>
        <p:nvSpPr>
          <p:cNvPr id="3" name="Google Shape;204;p27">
            <a:extLst>
              <a:ext uri="{FF2B5EF4-FFF2-40B4-BE49-F238E27FC236}">
                <a16:creationId xmlns:a16="http://schemas.microsoft.com/office/drawing/2014/main" id="{AF978D15-6390-3FF5-12DA-0AC3058D1EB1}"/>
              </a:ext>
            </a:extLst>
          </p:cNvPr>
          <p:cNvSpPr txBox="1"/>
          <p:nvPr/>
        </p:nvSpPr>
        <p:spPr>
          <a:xfrm>
            <a:off x="964133" y="3123692"/>
            <a:ext cx="737109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It removes the concept of events and relies on direct method calls to change state.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478EAE69-CDF9-9F4D-A20F-3FFB99E0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8FF2001-A10D-AA18-35F0-2BB31F2D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9AFED3E-8907-A6A2-84B7-725DB9BDB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928" y="407292"/>
            <a:ext cx="4184875" cy="4347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59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79FCCBA4-797B-0756-3E57-DC43F5E0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DC8B3487-EB61-1974-FF45-CCA0627CF0A7}"/>
              </a:ext>
            </a:extLst>
          </p:cNvPr>
          <p:cNvSpPr txBox="1"/>
          <p:nvPr/>
        </p:nvSpPr>
        <p:spPr>
          <a:xfrm>
            <a:off x="-1667007" y="2252007"/>
            <a:ext cx="55792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States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32DD01C-05D0-27E7-D87D-6F0C2056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AAB64-CCE7-443F-21E1-CA93D2413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546" y="5562"/>
            <a:ext cx="553831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93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C98C20C-720B-293C-550B-03C7B6D6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435DBE0D-CC67-3799-5BE3-B0562CD59AE0}"/>
              </a:ext>
            </a:extLst>
          </p:cNvPr>
          <p:cNvSpPr txBox="1"/>
          <p:nvPr/>
        </p:nvSpPr>
        <p:spPr>
          <a:xfrm>
            <a:off x="-1176666" y="2087002"/>
            <a:ext cx="55792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Cubit</a:t>
            </a: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3249286-51BE-2D31-306A-BC2CD4A17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3A654A-6ADA-7BEE-BAD5-F2CC774EC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478" y="0"/>
            <a:ext cx="47461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1218138F-9F49-F236-0761-EAB7DC01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F61F2D1E-879A-10B5-FBB1-ACB7A1D36166}"/>
              </a:ext>
            </a:extLst>
          </p:cNvPr>
          <p:cNvSpPr txBox="1"/>
          <p:nvPr/>
        </p:nvSpPr>
        <p:spPr>
          <a:xfrm>
            <a:off x="-1115855" y="2140724"/>
            <a:ext cx="55792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BlocProvider</a:t>
            </a: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31D91A9-0B6C-BFA0-6360-1E97C4BDB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4A8681-CEF1-26B3-8AFD-3DAA9B4C7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918" y="0"/>
            <a:ext cx="508406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88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914AA5E-B170-A424-EAB1-3C576A8B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A1AEF10E-9127-DFA7-61CE-2DF43DEF8D89}"/>
              </a:ext>
            </a:extLst>
          </p:cNvPr>
          <p:cNvSpPr txBox="1"/>
          <p:nvPr/>
        </p:nvSpPr>
        <p:spPr>
          <a:xfrm>
            <a:off x="1476090" y="380675"/>
            <a:ext cx="557921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BlocBuilder</a:t>
            </a: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B3646381-647D-26BB-25D0-5D6068C0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18BC96-12C0-CC15-115E-36C46C8FC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7287"/>
            <a:ext cx="9144000" cy="347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44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4DA2A4CE-84A7-3606-91B3-9F52F3C8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1C8380C8-CD60-A8A2-40F5-3DE255480690}"/>
              </a:ext>
            </a:extLst>
          </p:cNvPr>
          <p:cNvSpPr txBox="1"/>
          <p:nvPr/>
        </p:nvSpPr>
        <p:spPr>
          <a:xfrm>
            <a:off x="781695" y="394425"/>
            <a:ext cx="723477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Calling function from cubit</a:t>
            </a:r>
            <a:endParaRPr lang="en" sz="4500" b="0" i="0" u="none" strike="noStrike" cap="none" dirty="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Satisfy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9D9A28C-333D-376F-1F83-1EBEDEF9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24F41A-8863-F070-70B1-4A3082EED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2612"/>
            <a:ext cx="9144000" cy="329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98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5120760-32ED-152B-FBA8-AA989FE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56150148-2613-4C8B-AD17-CD9554AB15B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A6748B2F-93EE-B155-87F4-DE607CB03586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>
            <a:extLst>
              <a:ext uri="{FF2B5EF4-FFF2-40B4-BE49-F238E27FC236}">
                <a16:creationId xmlns:a16="http://schemas.microsoft.com/office/drawing/2014/main" id="{E15F430B-F0D7-0EA8-A799-EA617F6AA841}"/>
              </a:ext>
            </a:extLst>
          </p:cNvPr>
          <p:cNvSpPr txBox="1"/>
          <p:nvPr/>
        </p:nvSpPr>
        <p:spPr>
          <a:xfrm>
            <a:off x="-730834" y="1071140"/>
            <a:ext cx="540258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Hands on</a:t>
            </a:r>
            <a:endParaRPr sz="50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02478F4-B134-E158-AAB3-F9AEBA579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074" name="Picture 2" descr="Flutter app: count points for team A &amp; B | Mahmoud Ashraf posted on the  topic | LinkedIn">
            <a:extLst>
              <a:ext uri="{FF2B5EF4-FFF2-40B4-BE49-F238E27FC236}">
                <a16:creationId xmlns:a16="http://schemas.microsoft.com/office/drawing/2014/main" id="{E1645226-E449-4F0E-7A58-5534A0935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656" y="266744"/>
            <a:ext cx="2314575" cy="478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04;p27">
            <a:extLst>
              <a:ext uri="{FF2B5EF4-FFF2-40B4-BE49-F238E27FC236}">
                <a16:creationId xmlns:a16="http://schemas.microsoft.com/office/drawing/2014/main" id="{891B3923-D06F-F5FB-76E2-41FC1A17E2B7}"/>
              </a:ext>
            </a:extLst>
          </p:cNvPr>
          <p:cNvSpPr txBox="1"/>
          <p:nvPr/>
        </p:nvSpPr>
        <p:spPr>
          <a:xfrm>
            <a:off x="-1000823" y="2282992"/>
            <a:ext cx="7371097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Use cubit state management,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(Hint: States should be:</a:t>
            </a:r>
            <a:b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-&gt; Add points for team A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-&gt; Add points for teams B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-&gt; The reset for both)</a:t>
            </a:r>
          </a:p>
        </p:txBody>
      </p:sp>
    </p:spTree>
    <p:extLst>
      <p:ext uri="{BB962C8B-B14F-4D97-AF65-F5344CB8AC3E}">
        <p14:creationId xmlns:p14="http://schemas.microsoft.com/office/powerpoint/2010/main" val="2975770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1864536" y="1685925"/>
            <a:ext cx="541492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Thank you!</a:t>
            </a:r>
            <a:endParaRPr sz="700"/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B39B16-6F25-5CC7-546A-86E06719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4EAE4"/>
      </a:dk1>
      <a:lt1>
        <a:srgbClr val="20124D"/>
      </a:lt1>
      <a:dk2>
        <a:srgbClr val="FFFDFC"/>
      </a:dk2>
      <a:lt2>
        <a:srgbClr val="674EA7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237</Words>
  <Application>Microsoft Office PowerPoint</Application>
  <PresentationFormat>On-screen Show (16:9)</PresentationFormat>
  <Paragraphs>36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Lato</vt:lpstr>
      <vt:lpstr>Arial</vt:lpstr>
      <vt:lpstr>Calibri</vt:lpstr>
      <vt:lpstr>Satisfy</vt:lpstr>
      <vt:lpstr>Lato Black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Tasneem El-Rashidy</cp:lastModifiedBy>
  <cp:revision>3</cp:revision>
  <dcterms:modified xsi:type="dcterms:W3CDTF">2026-02-18T09:42:46Z</dcterms:modified>
</cp:coreProperties>
</file>